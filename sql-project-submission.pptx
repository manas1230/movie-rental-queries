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1.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Calibri" panose="020F0502020204030204" pitchFamily="34" charset="0"/>
      <p:regular r:id="rId8"/>
      <p:bold r:id="rId9"/>
      <p:italic r:id="rId10"/>
      <p:boldItalic r:id="rId11"/>
    </p:embeddedFont>
    <p:embeddedFont>
      <p:font typeface="Open Sans" panose="020B060603050402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68" autoAdjust="0"/>
  </p:normalViewPr>
  <p:slideViewPr>
    <p:cSldViewPr snapToGrid="0">
      <p:cViewPr varScale="1">
        <p:scale>
          <a:sx n="96" d="100"/>
          <a:sy n="96" d="100"/>
        </p:scale>
        <p:origin x="10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Manas1\L-J%20Learn\Udacity\sakila%20project\q2.csv" TargetMode="External"/><Relationship Id="rId2" Type="http://schemas.microsoft.com/office/2011/relationships/chartColorStyle" Target="colors2.xml"/><Relationship Id="rId1" Type="http://schemas.microsoft.com/office/2011/relationships/chartStyle" Target="style2.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Manas1\L-J%20Learn\Udacity\sakila%20project\q3.csv"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Manas1\L-J%20Learn\Udacity\sakila%20project\q4.csv"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Manas1\L-J%20Learn\Udacity\sakila%20project\q5.csv" TargetMode="External"/><Relationship Id="rId2" Type="http://schemas.microsoft.com/office/2011/relationships/chartColorStyle" Target="colors5.xml"/><Relationship Id="rId1" Type="http://schemas.microsoft.com/office/2011/relationships/chartStyle" Target="style5.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user\OneDrive\Desktop\Manas1\L-J%20Learn\Udacity\sakila%20project\q1.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IN"/>
              <a:t>Categories in each Quartile</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radarChart>
        <c:radarStyle val="marker"/>
        <c:varyColors val="0"/>
        <c:ser>
          <c:idx val="0"/>
          <c:order val="0"/>
          <c:tx>
            <c:v>Quartile 4</c:v>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Sheet1!$A$3:$A$8</c:f>
              <c:strCache>
                <c:ptCount val="6"/>
                <c:pt idx="0">
                  <c:v>Family</c:v>
                </c:pt>
                <c:pt idx="1">
                  <c:v>Animation</c:v>
                </c:pt>
                <c:pt idx="2">
                  <c:v>Children</c:v>
                </c:pt>
                <c:pt idx="3">
                  <c:v>Classics</c:v>
                </c:pt>
                <c:pt idx="4">
                  <c:v>Comedy</c:v>
                </c:pt>
                <c:pt idx="5">
                  <c:v>Music</c:v>
                </c:pt>
              </c:strCache>
            </c:strRef>
          </c:cat>
          <c:val>
            <c:numRef>
              <c:f>Sheet1!$B$3:$B$8</c:f>
              <c:numCache>
                <c:formatCode>General</c:formatCode>
                <c:ptCount val="6"/>
                <c:pt idx="0">
                  <c:v>116</c:v>
                </c:pt>
                <c:pt idx="1">
                  <c:v>110</c:v>
                </c:pt>
                <c:pt idx="2">
                  <c:v>101</c:v>
                </c:pt>
                <c:pt idx="3">
                  <c:v>98</c:v>
                </c:pt>
                <c:pt idx="4">
                  <c:v>96</c:v>
                </c:pt>
                <c:pt idx="5">
                  <c:v>84</c:v>
                </c:pt>
              </c:numCache>
            </c:numRef>
          </c:val>
          <c:extLst>
            <c:ext xmlns:c16="http://schemas.microsoft.com/office/drawing/2014/chart" uri="{C3380CC4-5D6E-409C-BE32-E72D297353CC}">
              <c16:uniqueId val="{00000000-7993-4098-8E65-5E0A3F17DBAF}"/>
            </c:ext>
          </c:extLst>
        </c:ser>
        <c:ser>
          <c:idx val="1"/>
          <c:order val="1"/>
          <c:tx>
            <c:v>Quartile 3</c:v>
          </c:tx>
          <c:spPr>
            <a:ln w="25400" cap="rnd" cmpd="sng" algn="ctr">
              <a:solidFill>
                <a:schemeClr val="accent2"/>
              </a:solidFill>
              <a:prstDash val="sysDot"/>
              <a:round/>
            </a:ln>
            <a:effectLst/>
          </c:spPr>
          <c:marker>
            <c:symbol val="circle"/>
            <c:size val="6"/>
            <c:spPr>
              <a:solidFill>
                <a:schemeClr val="accent2"/>
              </a:solidFill>
              <a:ln>
                <a:noFill/>
              </a:ln>
              <a:effectLst/>
            </c:spPr>
          </c:marker>
          <c:cat>
            <c:strRef>
              <c:f>Sheet1!$A$3:$A$8</c:f>
              <c:strCache>
                <c:ptCount val="6"/>
                <c:pt idx="0">
                  <c:v>Family</c:v>
                </c:pt>
                <c:pt idx="1">
                  <c:v>Animation</c:v>
                </c:pt>
                <c:pt idx="2">
                  <c:v>Children</c:v>
                </c:pt>
                <c:pt idx="3">
                  <c:v>Classics</c:v>
                </c:pt>
                <c:pt idx="4">
                  <c:v>Comedy</c:v>
                </c:pt>
                <c:pt idx="5">
                  <c:v>Music</c:v>
                </c:pt>
              </c:strCache>
            </c:strRef>
          </c:cat>
          <c:val>
            <c:numRef>
              <c:f>Sheet1!$C$3:$C$8</c:f>
              <c:numCache>
                <c:formatCode>General</c:formatCode>
                <c:ptCount val="6"/>
                <c:pt idx="0">
                  <c:v>100</c:v>
                </c:pt>
                <c:pt idx="1">
                  <c:v>91</c:v>
                </c:pt>
                <c:pt idx="2">
                  <c:v>84</c:v>
                </c:pt>
                <c:pt idx="3">
                  <c:v>81</c:v>
                </c:pt>
                <c:pt idx="4">
                  <c:v>78</c:v>
                </c:pt>
                <c:pt idx="5">
                  <c:v>76</c:v>
                </c:pt>
              </c:numCache>
            </c:numRef>
          </c:val>
          <c:extLst>
            <c:ext xmlns:c16="http://schemas.microsoft.com/office/drawing/2014/chart" uri="{C3380CC4-5D6E-409C-BE32-E72D297353CC}">
              <c16:uniqueId val="{00000001-7993-4098-8E65-5E0A3F17DBAF}"/>
            </c:ext>
          </c:extLst>
        </c:ser>
        <c:ser>
          <c:idx val="2"/>
          <c:order val="2"/>
          <c:tx>
            <c:v>Quartile 2</c:v>
          </c:tx>
          <c:spPr>
            <a:ln w="25400" cap="rnd" cmpd="sng" algn="ctr">
              <a:solidFill>
                <a:schemeClr val="accent3"/>
              </a:solidFill>
              <a:prstDash val="sysDot"/>
              <a:round/>
            </a:ln>
            <a:effectLst/>
          </c:spPr>
          <c:marker>
            <c:symbol val="circle"/>
            <c:size val="6"/>
            <c:spPr>
              <a:solidFill>
                <a:schemeClr val="accent3"/>
              </a:solidFill>
              <a:ln>
                <a:noFill/>
              </a:ln>
              <a:effectLst/>
            </c:spPr>
          </c:marker>
          <c:cat>
            <c:strRef>
              <c:f>Sheet1!$A$3:$A$8</c:f>
              <c:strCache>
                <c:ptCount val="6"/>
                <c:pt idx="0">
                  <c:v>Family</c:v>
                </c:pt>
                <c:pt idx="1">
                  <c:v>Animation</c:v>
                </c:pt>
                <c:pt idx="2">
                  <c:v>Children</c:v>
                </c:pt>
                <c:pt idx="3">
                  <c:v>Classics</c:v>
                </c:pt>
                <c:pt idx="4">
                  <c:v>Comedy</c:v>
                </c:pt>
                <c:pt idx="5">
                  <c:v>Music</c:v>
                </c:pt>
              </c:strCache>
            </c:strRef>
          </c:cat>
          <c:val>
            <c:numRef>
              <c:f>Sheet1!$D$3:$D$8</c:f>
              <c:numCache>
                <c:formatCode>General</c:formatCode>
                <c:ptCount val="6"/>
                <c:pt idx="0">
                  <c:v>80</c:v>
                </c:pt>
                <c:pt idx="1">
                  <c:v>71</c:v>
                </c:pt>
                <c:pt idx="2">
                  <c:v>69</c:v>
                </c:pt>
                <c:pt idx="3">
                  <c:v>62</c:v>
                </c:pt>
                <c:pt idx="4">
                  <c:v>64</c:v>
                </c:pt>
                <c:pt idx="5">
                  <c:v>62</c:v>
                </c:pt>
              </c:numCache>
            </c:numRef>
          </c:val>
          <c:extLst>
            <c:ext xmlns:c16="http://schemas.microsoft.com/office/drawing/2014/chart" uri="{C3380CC4-5D6E-409C-BE32-E72D297353CC}">
              <c16:uniqueId val="{00000002-7993-4098-8E65-5E0A3F17DBAF}"/>
            </c:ext>
          </c:extLst>
        </c:ser>
        <c:ser>
          <c:idx val="3"/>
          <c:order val="3"/>
          <c:tx>
            <c:v>Quartile 1</c:v>
          </c:tx>
          <c:spPr>
            <a:ln w="25400" cap="rnd" cmpd="sng" algn="ctr">
              <a:solidFill>
                <a:schemeClr val="accent4"/>
              </a:solidFill>
              <a:prstDash val="sysDot"/>
              <a:round/>
            </a:ln>
            <a:effectLst/>
          </c:spPr>
          <c:marker>
            <c:symbol val="circle"/>
            <c:size val="6"/>
            <c:spPr>
              <a:solidFill>
                <a:schemeClr val="accent4"/>
              </a:solidFill>
              <a:ln>
                <a:noFill/>
              </a:ln>
              <a:effectLst/>
            </c:spPr>
          </c:marker>
          <c:cat>
            <c:strRef>
              <c:f>Sheet1!$A$3:$A$8</c:f>
              <c:strCache>
                <c:ptCount val="6"/>
                <c:pt idx="0">
                  <c:v>Family</c:v>
                </c:pt>
                <c:pt idx="1">
                  <c:v>Animation</c:v>
                </c:pt>
                <c:pt idx="2">
                  <c:v>Children</c:v>
                </c:pt>
                <c:pt idx="3">
                  <c:v>Classics</c:v>
                </c:pt>
                <c:pt idx="4">
                  <c:v>Comedy</c:v>
                </c:pt>
                <c:pt idx="5">
                  <c:v>Music</c:v>
                </c:pt>
              </c:strCache>
            </c:strRef>
          </c:cat>
          <c:val>
            <c:numRef>
              <c:f>Sheet1!$E$3:$E$8</c:f>
              <c:numCache>
                <c:formatCode>General</c:formatCode>
                <c:ptCount val="6"/>
                <c:pt idx="0">
                  <c:v>61</c:v>
                </c:pt>
                <c:pt idx="1">
                  <c:v>51</c:v>
                </c:pt>
                <c:pt idx="2">
                  <c:v>48</c:v>
                </c:pt>
                <c:pt idx="3">
                  <c:v>48</c:v>
                </c:pt>
                <c:pt idx="4">
                  <c:v>48</c:v>
                </c:pt>
                <c:pt idx="5">
                  <c:v>45</c:v>
                </c:pt>
              </c:numCache>
            </c:numRef>
          </c:val>
          <c:extLst>
            <c:ext xmlns:c16="http://schemas.microsoft.com/office/drawing/2014/chart" uri="{C3380CC4-5D6E-409C-BE32-E72D297353CC}">
              <c16:uniqueId val="{00000003-7993-4098-8E65-5E0A3F17DBAF}"/>
            </c:ext>
          </c:extLst>
        </c:ser>
        <c:dLbls>
          <c:showLegendKey val="0"/>
          <c:showVal val="0"/>
          <c:showCatName val="0"/>
          <c:showSerName val="0"/>
          <c:showPercent val="0"/>
          <c:showBubbleSize val="0"/>
        </c:dLbls>
        <c:axId val="511265320"/>
        <c:axId val="511264240"/>
      </c:radarChart>
      <c:catAx>
        <c:axId val="511265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1264240"/>
        <c:crosses val="autoZero"/>
        <c:auto val="1"/>
        <c:lblAlgn val="ctr"/>
        <c:lblOffset val="100"/>
        <c:noMultiLvlLbl val="0"/>
      </c:catAx>
      <c:valAx>
        <c:axId val="511264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12653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IN"/>
              <a:t>Count of movies in each quartile</a:t>
            </a:r>
          </a:p>
        </c:rich>
      </c:tx>
      <c:layout>
        <c:manualLayout>
          <c:xMode val="edge"/>
          <c:yMode val="edge"/>
          <c:x val="0.2854280510018215"/>
          <c:y val="2.3148017777007587E-2"/>
        </c:manualLayout>
      </c:layout>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Quartile1</c:v>
          </c:tx>
          <c:spPr>
            <a:solidFill>
              <a:schemeClr val="accent6"/>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Sheet1!$A$1:$A$6</c:f>
              <c:strCache>
                <c:ptCount val="6"/>
                <c:pt idx="0">
                  <c:v>Family</c:v>
                </c:pt>
                <c:pt idx="1">
                  <c:v>Animation</c:v>
                </c:pt>
                <c:pt idx="2">
                  <c:v>Children</c:v>
                </c:pt>
                <c:pt idx="3">
                  <c:v>Comedy</c:v>
                </c:pt>
                <c:pt idx="4">
                  <c:v>Classics</c:v>
                </c:pt>
                <c:pt idx="5">
                  <c:v>Music</c:v>
                </c:pt>
              </c:strCache>
            </c:strRef>
          </c:cat>
          <c:val>
            <c:numRef>
              <c:f>Sheet1!$B$1:$B$6</c:f>
              <c:numCache>
                <c:formatCode>General</c:formatCode>
                <c:ptCount val="6"/>
                <c:pt idx="0">
                  <c:v>11</c:v>
                </c:pt>
                <c:pt idx="1">
                  <c:v>18</c:v>
                </c:pt>
                <c:pt idx="2">
                  <c:v>12</c:v>
                </c:pt>
                <c:pt idx="3">
                  <c:v>12</c:v>
                </c:pt>
                <c:pt idx="4">
                  <c:v>12</c:v>
                </c:pt>
                <c:pt idx="5">
                  <c:v>7</c:v>
                </c:pt>
              </c:numCache>
            </c:numRef>
          </c:val>
          <c:extLst>
            <c:ext xmlns:c16="http://schemas.microsoft.com/office/drawing/2014/chart" uri="{C3380CC4-5D6E-409C-BE32-E72D297353CC}">
              <c16:uniqueId val="{00000000-88EE-4E5B-BA4C-395C531DF562}"/>
            </c:ext>
          </c:extLst>
        </c:ser>
        <c:ser>
          <c:idx val="1"/>
          <c:order val="1"/>
          <c:tx>
            <c:v>Quartile 2</c:v>
          </c:tx>
          <c:spPr>
            <a:solidFill>
              <a:schemeClr val="accent5"/>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Sheet1!$A$1:$A$6</c:f>
              <c:strCache>
                <c:ptCount val="6"/>
                <c:pt idx="0">
                  <c:v>Family</c:v>
                </c:pt>
                <c:pt idx="1">
                  <c:v>Animation</c:v>
                </c:pt>
                <c:pt idx="2">
                  <c:v>Children</c:v>
                </c:pt>
                <c:pt idx="3">
                  <c:v>Comedy</c:v>
                </c:pt>
                <c:pt idx="4">
                  <c:v>Classics</c:v>
                </c:pt>
                <c:pt idx="5">
                  <c:v>Music</c:v>
                </c:pt>
              </c:strCache>
            </c:strRef>
          </c:cat>
          <c:val>
            <c:numRef>
              <c:f>Sheet1!$C$1:$C$6</c:f>
              <c:numCache>
                <c:formatCode>General</c:formatCode>
                <c:ptCount val="6"/>
                <c:pt idx="0">
                  <c:v>12</c:v>
                </c:pt>
                <c:pt idx="1">
                  <c:v>12</c:v>
                </c:pt>
                <c:pt idx="2">
                  <c:v>9</c:v>
                </c:pt>
                <c:pt idx="3">
                  <c:v>14</c:v>
                </c:pt>
                <c:pt idx="4">
                  <c:v>11</c:v>
                </c:pt>
                <c:pt idx="5">
                  <c:v>9</c:v>
                </c:pt>
              </c:numCache>
            </c:numRef>
          </c:val>
          <c:extLst>
            <c:ext xmlns:c16="http://schemas.microsoft.com/office/drawing/2014/chart" uri="{C3380CC4-5D6E-409C-BE32-E72D297353CC}">
              <c16:uniqueId val="{00000001-88EE-4E5B-BA4C-395C531DF562}"/>
            </c:ext>
          </c:extLst>
        </c:ser>
        <c:ser>
          <c:idx val="2"/>
          <c:order val="2"/>
          <c:tx>
            <c:v>Quartile 3</c:v>
          </c:tx>
          <c:spPr>
            <a:solidFill>
              <a:schemeClr val="accent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Sheet1!$A$1:$A$6</c:f>
              <c:strCache>
                <c:ptCount val="6"/>
                <c:pt idx="0">
                  <c:v>Family</c:v>
                </c:pt>
                <c:pt idx="1">
                  <c:v>Animation</c:v>
                </c:pt>
                <c:pt idx="2">
                  <c:v>Children</c:v>
                </c:pt>
                <c:pt idx="3">
                  <c:v>Comedy</c:v>
                </c:pt>
                <c:pt idx="4">
                  <c:v>Classics</c:v>
                </c:pt>
                <c:pt idx="5">
                  <c:v>Music</c:v>
                </c:pt>
              </c:strCache>
            </c:strRef>
          </c:cat>
          <c:val>
            <c:numRef>
              <c:f>Sheet1!$D$1:$D$6</c:f>
              <c:numCache>
                <c:formatCode>General</c:formatCode>
                <c:ptCount val="6"/>
                <c:pt idx="0">
                  <c:v>14</c:v>
                </c:pt>
                <c:pt idx="1">
                  <c:v>9</c:v>
                </c:pt>
                <c:pt idx="2">
                  <c:v>15</c:v>
                </c:pt>
                <c:pt idx="3">
                  <c:v>10</c:v>
                </c:pt>
                <c:pt idx="4">
                  <c:v>9</c:v>
                </c:pt>
                <c:pt idx="5">
                  <c:v>12</c:v>
                </c:pt>
              </c:numCache>
            </c:numRef>
          </c:val>
          <c:extLst>
            <c:ext xmlns:c16="http://schemas.microsoft.com/office/drawing/2014/chart" uri="{C3380CC4-5D6E-409C-BE32-E72D297353CC}">
              <c16:uniqueId val="{00000002-88EE-4E5B-BA4C-395C531DF562}"/>
            </c:ext>
          </c:extLst>
        </c:ser>
        <c:ser>
          <c:idx val="3"/>
          <c:order val="3"/>
          <c:tx>
            <c:v>Quartile 4</c:v>
          </c:tx>
          <c:spPr>
            <a:solidFill>
              <a:schemeClr val="accent6">
                <a:lumMod val="6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Sheet1!$A$1:$A$6</c:f>
              <c:strCache>
                <c:ptCount val="6"/>
                <c:pt idx="0">
                  <c:v>Family</c:v>
                </c:pt>
                <c:pt idx="1">
                  <c:v>Animation</c:v>
                </c:pt>
                <c:pt idx="2">
                  <c:v>Children</c:v>
                </c:pt>
                <c:pt idx="3">
                  <c:v>Comedy</c:v>
                </c:pt>
                <c:pt idx="4">
                  <c:v>Classics</c:v>
                </c:pt>
                <c:pt idx="5">
                  <c:v>Music</c:v>
                </c:pt>
              </c:strCache>
            </c:strRef>
          </c:cat>
          <c:val>
            <c:numRef>
              <c:f>Sheet1!$E$1:$E$6</c:f>
              <c:numCache>
                <c:formatCode>General</c:formatCode>
                <c:ptCount val="6"/>
                <c:pt idx="0">
                  <c:v>18</c:v>
                </c:pt>
                <c:pt idx="1">
                  <c:v>13</c:v>
                </c:pt>
                <c:pt idx="2">
                  <c:v>13</c:v>
                </c:pt>
                <c:pt idx="3">
                  <c:v>10</c:v>
                </c:pt>
                <c:pt idx="4">
                  <c:v>11</c:v>
                </c:pt>
                <c:pt idx="5">
                  <c:v>11</c:v>
                </c:pt>
              </c:numCache>
            </c:numRef>
          </c:val>
          <c:extLst>
            <c:ext xmlns:c16="http://schemas.microsoft.com/office/drawing/2014/chart" uri="{C3380CC4-5D6E-409C-BE32-E72D297353CC}">
              <c16:uniqueId val="{00000003-88EE-4E5B-BA4C-395C531DF562}"/>
            </c:ext>
          </c:extLst>
        </c:ser>
        <c:ser>
          <c:idx val="4"/>
          <c:order val="4"/>
          <c:tx>
            <c:v>Quartile 5</c:v>
          </c:tx>
          <c:spPr>
            <a:solidFill>
              <a:schemeClr val="accent5">
                <a:lumMod val="600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8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Sheet1!$A$1:$A$6</c:f>
              <c:strCache>
                <c:ptCount val="6"/>
                <c:pt idx="0">
                  <c:v>Family</c:v>
                </c:pt>
                <c:pt idx="1">
                  <c:v>Animation</c:v>
                </c:pt>
                <c:pt idx="2">
                  <c:v>Children</c:v>
                </c:pt>
                <c:pt idx="3">
                  <c:v>Comedy</c:v>
                </c:pt>
                <c:pt idx="4">
                  <c:v>Classics</c:v>
                </c:pt>
                <c:pt idx="5">
                  <c:v>Music</c:v>
                </c:pt>
              </c:strCache>
            </c:strRef>
          </c:cat>
          <c:val>
            <c:numRef>
              <c:f>Sheet1!$F$1:$F$6</c:f>
              <c:numCache>
                <c:formatCode>General</c:formatCode>
                <c:ptCount val="6"/>
                <c:pt idx="0">
                  <c:v>14</c:v>
                </c:pt>
                <c:pt idx="1">
                  <c:v>14</c:v>
                </c:pt>
                <c:pt idx="2">
                  <c:v>11</c:v>
                </c:pt>
                <c:pt idx="3">
                  <c:v>12</c:v>
                </c:pt>
                <c:pt idx="4">
                  <c:v>14</c:v>
                </c:pt>
                <c:pt idx="5">
                  <c:v>12</c:v>
                </c:pt>
              </c:numCache>
            </c:numRef>
          </c:val>
          <c:extLst>
            <c:ext xmlns:c16="http://schemas.microsoft.com/office/drawing/2014/chart" uri="{C3380CC4-5D6E-409C-BE32-E72D297353CC}">
              <c16:uniqueId val="{00000004-88EE-4E5B-BA4C-395C531DF562}"/>
            </c:ext>
          </c:extLst>
        </c:ser>
        <c:dLbls>
          <c:dLblPos val="outEnd"/>
          <c:showLegendKey val="0"/>
          <c:showVal val="1"/>
          <c:showCatName val="0"/>
          <c:showSerName val="0"/>
          <c:showPercent val="0"/>
          <c:showBubbleSize val="0"/>
        </c:dLbls>
        <c:gapWidth val="444"/>
        <c:overlap val="-90"/>
        <c:axId val="67007080"/>
        <c:axId val="473196872"/>
      </c:barChart>
      <c:catAx>
        <c:axId val="6700708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IN"/>
                  <a:t>Category</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473196872"/>
        <c:crosses val="autoZero"/>
        <c:auto val="1"/>
        <c:lblAlgn val="ctr"/>
        <c:lblOffset val="100"/>
        <c:noMultiLvlLbl val="0"/>
      </c:catAx>
      <c:valAx>
        <c:axId val="473196872"/>
        <c:scaling>
          <c:orientation val="minMax"/>
        </c:scaling>
        <c:delete val="1"/>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IN"/>
                  <a:t>Count</a:t>
                </a:r>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6700708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IN"/>
              <a:t>2</a:t>
            </a:r>
            <a:r>
              <a:rPr lang="en-IN" baseline="0"/>
              <a:t> stores performance</a:t>
            </a:r>
            <a:endParaRPr lang="en-IN"/>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'q4'!$B$14</c:f>
              <c:strCache>
                <c:ptCount val="1"/>
                <c:pt idx="0">
                  <c:v>Store 1</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'q4'!$A$15:$A$19</c:f>
              <c:strCache>
                <c:ptCount val="5"/>
                <c:pt idx="0">
                  <c:v>2005 may</c:v>
                </c:pt>
                <c:pt idx="1">
                  <c:v>2005 june</c:v>
                </c:pt>
                <c:pt idx="2">
                  <c:v>2005 july</c:v>
                </c:pt>
                <c:pt idx="3">
                  <c:v>2005 august</c:v>
                </c:pt>
                <c:pt idx="4">
                  <c:v>2006 february</c:v>
                </c:pt>
              </c:strCache>
            </c:strRef>
          </c:cat>
          <c:val>
            <c:numRef>
              <c:f>'q4'!$B$15:$B$19</c:f>
              <c:numCache>
                <c:formatCode>General</c:formatCode>
                <c:ptCount val="5"/>
                <c:pt idx="0">
                  <c:v>575</c:v>
                </c:pt>
                <c:pt idx="1">
                  <c:v>1121</c:v>
                </c:pt>
                <c:pt idx="2">
                  <c:v>3334</c:v>
                </c:pt>
                <c:pt idx="3">
                  <c:v>2801</c:v>
                </c:pt>
                <c:pt idx="4">
                  <c:v>92</c:v>
                </c:pt>
              </c:numCache>
            </c:numRef>
          </c:val>
          <c:smooth val="0"/>
          <c:extLst>
            <c:ext xmlns:c16="http://schemas.microsoft.com/office/drawing/2014/chart" uri="{C3380CC4-5D6E-409C-BE32-E72D297353CC}">
              <c16:uniqueId val="{00000000-A0E3-497F-A2E8-C0068B6BADCA}"/>
            </c:ext>
          </c:extLst>
        </c:ser>
        <c:ser>
          <c:idx val="1"/>
          <c:order val="1"/>
          <c:tx>
            <c:strRef>
              <c:f>'q4'!$C$14</c:f>
              <c:strCache>
                <c:ptCount val="1"/>
                <c:pt idx="0">
                  <c:v>Store 2</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'q4'!$A$15:$A$19</c:f>
              <c:strCache>
                <c:ptCount val="5"/>
                <c:pt idx="0">
                  <c:v>2005 may</c:v>
                </c:pt>
                <c:pt idx="1">
                  <c:v>2005 june</c:v>
                </c:pt>
                <c:pt idx="2">
                  <c:v>2005 july</c:v>
                </c:pt>
                <c:pt idx="3">
                  <c:v>2005 august</c:v>
                </c:pt>
                <c:pt idx="4">
                  <c:v>2006 february</c:v>
                </c:pt>
              </c:strCache>
            </c:strRef>
          </c:cat>
          <c:val>
            <c:numRef>
              <c:f>'q4'!$C$15:$C$19</c:f>
              <c:numCache>
                <c:formatCode>General</c:formatCode>
                <c:ptCount val="5"/>
                <c:pt idx="0">
                  <c:v>581</c:v>
                </c:pt>
                <c:pt idx="1">
                  <c:v>1190</c:v>
                </c:pt>
                <c:pt idx="2">
                  <c:v>3375</c:v>
                </c:pt>
                <c:pt idx="3">
                  <c:v>2885</c:v>
                </c:pt>
                <c:pt idx="4">
                  <c:v>90</c:v>
                </c:pt>
              </c:numCache>
            </c:numRef>
          </c:val>
          <c:smooth val="0"/>
          <c:extLst>
            <c:ext xmlns:c16="http://schemas.microsoft.com/office/drawing/2014/chart" uri="{C3380CC4-5D6E-409C-BE32-E72D297353CC}">
              <c16:uniqueId val="{00000001-A0E3-497F-A2E8-C0068B6BADCA}"/>
            </c:ext>
          </c:extLst>
        </c:ser>
        <c:dLbls>
          <c:showLegendKey val="0"/>
          <c:showVal val="0"/>
          <c:showCatName val="0"/>
          <c:showSerName val="0"/>
          <c:showPercent val="0"/>
          <c:showBubbleSize val="0"/>
        </c:dLbls>
        <c:marker val="1"/>
        <c:smooth val="0"/>
        <c:axId val="522516952"/>
        <c:axId val="522513712"/>
      </c:lineChart>
      <c:catAx>
        <c:axId val="5225169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IN"/>
                  <a:t>Year-Month</a:t>
                </a:r>
              </a:p>
            </c:rich>
          </c:tx>
          <c:overlay val="0"/>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522513712"/>
        <c:crosses val="autoZero"/>
        <c:auto val="1"/>
        <c:lblAlgn val="ctr"/>
        <c:lblOffset val="100"/>
        <c:noMultiLvlLbl val="0"/>
      </c:catAx>
      <c:valAx>
        <c:axId val="522513712"/>
        <c:scaling>
          <c:orientation val="minMax"/>
        </c:scaling>
        <c:delete val="0"/>
        <c:axPos val="l"/>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IN"/>
                  <a:t>Count</a:t>
                </a:r>
                <a:r>
                  <a:rPr lang="en-IN" baseline="0"/>
                  <a:t> of rentals</a:t>
                </a:r>
                <a:endParaRPr lang="en-IN"/>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2516952"/>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IN"/>
              <a:t>Payment made across months by top 10</a:t>
            </a: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barChart>
        <c:barDir val="bar"/>
        <c:grouping val="clustered"/>
        <c:varyColors val="0"/>
        <c:ser>
          <c:idx val="0"/>
          <c:order val="0"/>
          <c:tx>
            <c:strRef>
              <c:f>Sheet1!$B$1</c:f>
              <c:strCache>
                <c:ptCount val="1"/>
                <c:pt idx="0">
                  <c:v>Feb</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Eleanor Hunt</c:v>
                </c:pt>
                <c:pt idx="1">
                  <c:v>Karl Seal</c:v>
                </c:pt>
                <c:pt idx="2">
                  <c:v>Marion Snyder</c:v>
                </c:pt>
                <c:pt idx="3">
                  <c:v>Rhonda Kennedy</c:v>
                </c:pt>
                <c:pt idx="4">
                  <c:v>Clara Shaw</c:v>
                </c:pt>
                <c:pt idx="5">
                  <c:v>Tommy Collazo</c:v>
                </c:pt>
                <c:pt idx="6">
                  <c:v>Ana Bradley</c:v>
                </c:pt>
                <c:pt idx="7">
                  <c:v>Curtis Irby</c:v>
                </c:pt>
                <c:pt idx="8">
                  <c:v>Marcia Dean</c:v>
                </c:pt>
                <c:pt idx="9">
                  <c:v>Mike Way</c:v>
                </c:pt>
              </c:strCache>
            </c:strRef>
          </c:cat>
          <c:val>
            <c:numRef>
              <c:f>Sheet1!$B$2:$B$11</c:f>
              <c:numCache>
                <c:formatCode>General</c:formatCode>
                <c:ptCount val="10"/>
                <c:pt idx="0">
                  <c:v>22.95</c:v>
                </c:pt>
                <c:pt idx="1">
                  <c:v>41.91</c:v>
                </c:pt>
                <c:pt idx="2">
                  <c:v>44.92</c:v>
                </c:pt>
                <c:pt idx="3">
                  <c:v>19.96</c:v>
                </c:pt>
                <c:pt idx="4">
                  <c:v>22.94</c:v>
                </c:pt>
                <c:pt idx="5">
                  <c:v>25.93</c:v>
                </c:pt>
                <c:pt idx="6">
                  <c:v>19.96</c:v>
                </c:pt>
                <c:pt idx="7">
                  <c:v>22.94</c:v>
                </c:pt>
                <c:pt idx="8">
                  <c:v>37.92</c:v>
                </c:pt>
                <c:pt idx="9">
                  <c:v>35.94</c:v>
                </c:pt>
              </c:numCache>
            </c:numRef>
          </c:val>
          <c:extLst>
            <c:ext xmlns:c16="http://schemas.microsoft.com/office/drawing/2014/chart" uri="{C3380CC4-5D6E-409C-BE32-E72D297353CC}">
              <c16:uniqueId val="{00000000-BC0C-4A85-9B89-7FF52CC10501}"/>
            </c:ext>
          </c:extLst>
        </c:ser>
        <c:ser>
          <c:idx val="1"/>
          <c:order val="1"/>
          <c:tx>
            <c:strRef>
              <c:f>Sheet1!$C$1</c:f>
              <c:strCache>
                <c:ptCount val="1"/>
                <c:pt idx="0">
                  <c:v>Mar</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Eleanor Hunt</c:v>
                </c:pt>
                <c:pt idx="1">
                  <c:v>Karl Seal</c:v>
                </c:pt>
                <c:pt idx="2">
                  <c:v>Marion Snyder</c:v>
                </c:pt>
                <c:pt idx="3">
                  <c:v>Rhonda Kennedy</c:v>
                </c:pt>
                <c:pt idx="4">
                  <c:v>Clara Shaw</c:v>
                </c:pt>
                <c:pt idx="5">
                  <c:v>Tommy Collazo</c:v>
                </c:pt>
                <c:pt idx="6">
                  <c:v>Ana Bradley</c:v>
                </c:pt>
                <c:pt idx="7">
                  <c:v>Curtis Irby</c:v>
                </c:pt>
                <c:pt idx="8">
                  <c:v>Marcia Dean</c:v>
                </c:pt>
                <c:pt idx="9">
                  <c:v>Mike Way</c:v>
                </c:pt>
              </c:strCache>
            </c:strRef>
          </c:cat>
          <c:val>
            <c:numRef>
              <c:f>Sheet1!$C$2:$C$11</c:f>
              <c:numCache>
                <c:formatCode>General</c:formatCode>
                <c:ptCount val="10"/>
                <c:pt idx="0">
                  <c:v>87.82</c:v>
                </c:pt>
                <c:pt idx="1">
                  <c:v>76.87</c:v>
                </c:pt>
                <c:pt idx="2">
                  <c:v>58.88</c:v>
                </c:pt>
                <c:pt idx="3">
                  <c:v>74.849999999999994</c:v>
                </c:pt>
                <c:pt idx="4">
                  <c:v>72.84</c:v>
                </c:pt>
                <c:pt idx="5">
                  <c:v>67.88</c:v>
                </c:pt>
                <c:pt idx="6">
                  <c:v>71.84</c:v>
                </c:pt>
                <c:pt idx="7">
                  <c:v>86.83</c:v>
                </c:pt>
                <c:pt idx="8">
                  <c:v>53.9</c:v>
                </c:pt>
                <c:pt idx="9">
                  <c:v>64.849999999999994</c:v>
                </c:pt>
              </c:numCache>
            </c:numRef>
          </c:val>
          <c:extLst>
            <c:ext xmlns:c16="http://schemas.microsoft.com/office/drawing/2014/chart" uri="{C3380CC4-5D6E-409C-BE32-E72D297353CC}">
              <c16:uniqueId val="{00000001-BC0C-4A85-9B89-7FF52CC10501}"/>
            </c:ext>
          </c:extLst>
        </c:ser>
        <c:ser>
          <c:idx val="2"/>
          <c:order val="2"/>
          <c:tx>
            <c:strRef>
              <c:f>Sheet1!$D$1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Eleanor Hunt</c:v>
                </c:pt>
                <c:pt idx="1">
                  <c:v>Karl Seal</c:v>
                </c:pt>
                <c:pt idx="2">
                  <c:v>Marion Snyder</c:v>
                </c:pt>
                <c:pt idx="3">
                  <c:v>Rhonda Kennedy</c:v>
                </c:pt>
                <c:pt idx="4">
                  <c:v>Clara Shaw</c:v>
                </c:pt>
                <c:pt idx="5">
                  <c:v>Tommy Collazo</c:v>
                </c:pt>
                <c:pt idx="6">
                  <c:v>Ana Bradley</c:v>
                </c:pt>
                <c:pt idx="7">
                  <c:v>Curtis Irby</c:v>
                </c:pt>
                <c:pt idx="8">
                  <c:v>Marcia Dean</c:v>
                </c:pt>
                <c:pt idx="9">
                  <c:v>Mike Way</c:v>
                </c:pt>
              </c:strCache>
            </c:strRef>
          </c:cat>
          <c:val>
            <c:numRef>
              <c:f>Sheet1!$D$2:$D$11</c:f>
              <c:numCache>
                <c:formatCode>General</c:formatCode>
                <c:ptCount val="10"/>
                <c:pt idx="0">
                  <c:v>100.78</c:v>
                </c:pt>
                <c:pt idx="1">
                  <c:v>89.8</c:v>
                </c:pt>
                <c:pt idx="2">
                  <c:v>85.82</c:v>
                </c:pt>
                <c:pt idx="3">
                  <c:v>96.81</c:v>
                </c:pt>
                <c:pt idx="4">
                  <c:v>93.82</c:v>
                </c:pt>
                <c:pt idx="5">
                  <c:v>89.82</c:v>
                </c:pt>
                <c:pt idx="6">
                  <c:v>72.88</c:v>
                </c:pt>
                <c:pt idx="7">
                  <c:v>54.86</c:v>
                </c:pt>
                <c:pt idx="8">
                  <c:v>73.8</c:v>
                </c:pt>
                <c:pt idx="9">
                  <c:v>61.88</c:v>
                </c:pt>
              </c:numCache>
            </c:numRef>
          </c:val>
          <c:extLst>
            <c:ext xmlns:c16="http://schemas.microsoft.com/office/drawing/2014/chart" uri="{C3380CC4-5D6E-409C-BE32-E72D297353CC}">
              <c16:uniqueId val="{00000002-BC0C-4A85-9B89-7FF52CC10501}"/>
            </c:ext>
          </c:extLst>
        </c:ser>
        <c:ser>
          <c:idx val="3"/>
          <c:order val="3"/>
          <c:tx>
            <c:strRef>
              <c:f>Sheet1!$E$1</c:f>
              <c:strCache>
                <c:ptCount val="1"/>
                <c:pt idx="0">
                  <c:v>May</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Sheet1!$A$2:$A$11</c:f>
              <c:strCache>
                <c:ptCount val="10"/>
                <c:pt idx="0">
                  <c:v>Eleanor Hunt</c:v>
                </c:pt>
                <c:pt idx="1">
                  <c:v>Karl Seal</c:v>
                </c:pt>
                <c:pt idx="2">
                  <c:v>Marion Snyder</c:v>
                </c:pt>
                <c:pt idx="3">
                  <c:v>Rhonda Kennedy</c:v>
                </c:pt>
                <c:pt idx="4">
                  <c:v>Clara Shaw</c:v>
                </c:pt>
                <c:pt idx="5">
                  <c:v>Tommy Collazo</c:v>
                </c:pt>
                <c:pt idx="6">
                  <c:v>Ana Bradley</c:v>
                </c:pt>
                <c:pt idx="7">
                  <c:v>Curtis Irby</c:v>
                </c:pt>
                <c:pt idx="8">
                  <c:v>Marcia Dean</c:v>
                </c:pt>
                <c:pt idx="9">
                  <c:v>Mike Way</c:v>
                </c:pt>
              </c:strCache>
            </c:strRef>
          </c:cat>
          <c:val>
            <c:numRef>
              <c:f>Sheet1!$E$2:$E$11</c:f>
              <c:numCache>
                <c:formatCode>General</c:formatCode>
                <c:ptCount val="10"/>
                <c:pt idx="2">
                  <c:v>4.99</c:v>
                </c:pt>
                <c:pt idx="6">
                  <c:v>2.99</c:v>
                </c:pt>
                <c:pt idx="7">
                  <c:v>2.99</c:v>
                </c:pt>
                <c:pt idx="8">
                  <c:v>0.99</c:v>
                </c:pt>
              </c:numCache>
            </c:numRef>
          </c:val>
          <c:extLst>
            <c:ext xmlns:c16="http://schemas.microsoft.com/office/drawing/2014/chart" uri="{C3380CC4-5D6E-409C-BE32-E72D297353CC}">
              <c16:uniqueId val="{00000003-BC0C-4A85-9B89-7FF52CC10501}"/>
            </c:ext>
          </c:extLst>
        </c:ser>
        <c:dLbls>
          <c:dLblPos val="inEnd"/>
          <c:showLegendKey val="0"/>
          <c:showVal val="1"/>
          <c:showCatName val="0"/>
          <c:showSerName val="0"/>
          <c:showPercent val="0"/>
          <c:showBubbleSize val="0"/>
        </c:dLbls>
        <c:gapWidth val="269"/>
        <c:overlap val="-50"/>
        <c:axId val="515166504"/>
        <c:axId val="515162544"/>
      </c:barChart>
      <c:catAx>
        <c:axId val="515166504"/>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Name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515162544"/>
        <c:crosses val="autoZero"/>
        <c:auto val="1"/>
        <c:lblAlgn val="ctr"/>
        <c:lblOffset val="100"/>
        <c:noMultiLvlLbl val="0"/>
      </c:catAx>
      <c:valAx>
        <c:axId val="515162544"/>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Amount</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516650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Sheet1!$A$2:$A$351</cx:f>
        <cx:lvl ptCount="350">
          <cx:pt idx="0">Scalawag Duck</cx:pt>
          <cx:pt idx="1">Juggler Hardly</cx:pt>
          <cx:pt idx="2">Zorro Ark</cx:pt>
          <cx:pt idx="3">Robbers Joon</cx:pt>
          <cx:pt idx="4">Network Peak</cx:pt>
          <cx:pt idx="5">Apache Divine</cx:pt>
          <cx:pt idx="6">Rush Goodfellas</cx:pt>
          <cx:pt idx="7">Timberland Sky</cx:pt>
          <cx:pt idx="8">Idols Snatchers</cx:pt>
          <cx:pt idx="9">Dogma Family</cx:pt>
          <cx:pt idx="10">Cat Coneheads</cx:pt>
          <cx:pt idx="11">Frost Head</cx:pt>
          <cx:pt idx="12">Boogie Amelie</cx:pt>
          <cx:pt idx="13">Storm Happiness</cx:pt>
          <cx:pt idx="14">Enemy Odds</cx:pt>
          <cx:pt idx="15">Greatest North</cx:pt>
          <cx:pt idx="16">Sweethearts Suspects</cx:pt>
          <cx:pt idx="17">Confidential Interview</cx:pt>
          <cx:pt idx="18">Deer Virginian</cx:pt>
          <cx:pt idx="19">Closer Bang</cx:pt>
          <cx:pt idx="20">Giant Troopers</cx:pt>
          <cx:pt idx="21">Gilmore Boiled</cx:pt>
          <cx:pt idx="22">Voyage Legally</cx:pt>
          <cx:pt idx="23">Detective Vision</cx:pt>
          <cx:pt idx="24">Operation Operation</cx:pt>
          <cx:pt idx="25">Telegraph Voyage</cx:pt>
          <cx:pt idx="26">Gangs Pride</cx:pt>
          <cx:pt idx="27">Range Moonwalker</cx:pt>
          <cx:pt idx="28">Invasion Cyclone</cx:pt>
          <cx:pt idx="29">Forrester Comancheros</cx:pt>
          <cx:pt idx="30">Loathing Legally</cx:pt>
          <cx:pt idx="31">Blackout Private</cx:pt>
          <cx:pt idx="32">Movie Shakespeare</cx:pt>
          <cx:pt idx="33">Dorado Notting</cx:pt>
          <cx:pt idx="34">Alaska Phantom</cx:pt>
          <cx:pt idx="35">Malkovich Pet</cx:pt>
          <cx:pt idx="36">Island Exorcist</cx:pt>
          <cx:pt idx="37">Hyde Doctor</cx:pt>
          <cx:pt idx="38">Tracy Cider</cx:pt>
          <cx:pt idx="39">Half Outfield</cx:pt>
          <cx:pt idx="40">Velvet Terminator</cx:pt>
          <cx:pt idx="41">Westward Seabiscuit</cx:pt>
          <cx:pt idx="42">Shepherd Midsummer</cx:pt>
          <cx:pt idx="43">Downhill Enough</cx:pt>
          <cx:pt idx="44">Telemark Heartbreakers</cx:pt>
          <cx:pt idx="45">Clash Freddy</cx:pt>
          <cx:pt idx="46">Dynamite Tarzan</cx:pt>
          <cx:pt idx="47">Mallrats United</cx:pt>
          <cx:pt idx="48">Feud Frogmen</cx:pt>
          <cx:pt idx="49">Double Wrath</cx:pt>
          <cx:pt idx="50">Tomorrow Hustler</cx:pt>
          <cx:pt idx="51">Oscar Gold</cx:pt>
          <cx:pt idx="52">Effect Gladiator</cx:pt>
          <cx:pt idx="53">Fargo Gandhi</cx:pt>
          <cx:pt idx="54">Gunfight Moon</cx:pt>
          <cx:pt idx="55">Center Dinosaur</cx:pt>
          <cx:pt idx="56">Knock Warlock</cx:pt>
          <cx:pt idx="57">Atlantis Cause</cx:pt>
          <cx:pt idx="58">Bound Cheaper</cx:pt>
          <cx:pt idx="59">Oz Liaisons</cx:pt>
          <cx:pt idx="60">Slums Duck</cx:pt>
          <cx:pt idx="61">Caper Motions</cx:pt>
          <cx:pt idx="62">Color Philadelphia</cx:pt>
          <cx:pt idx="63">Jason Trap</cx:pt>
          <cx:pt idx="64">Strangelove Desire</cx:pt>
          <cx:pt idx="65">Roman Punk</cx:pt>
          <cx:pt idx="66">Sunrise League</cx:pt>
          <cx:pt idx="67">Horn Working</cx:pt>
          <cx:pt idx="68">Hurricane Affair</cx:pt>
          <cx:pt idx="69">Jumping Wrath</cx:pt>
          <cx:pt idx="70">Strictly Scarface</cx:pt>
          <cx:pt idx="71">Snowman Rollercoaster</cx:pt>
          <cx:pt idx="72">Balloon Homeward</cx:pt>
          <cx:pt idx="73">Titanic Boondock</cx:pt>
          <cx:pt idx="74">Steel Santa</cx:pt>
          <cx:pt idx="75">Crooked Frogmen</cx:pt>
          <cx:pt idx="76">Murder Antitrust</cx:pt>
          <cx:pt idx="77">House Dynamite</cx:pt>
          <cx:pt idx="78">Banger Pinocchio</cx:pt>
          <cx:pt idx="79">Borrowers Bedazzled</cx:pt>
          <cx:pt idx="80">Snatch Slipper</cx:pt>
          <cx:pt idx="81">Falcon Volume</cx:pt>
          <cx:pt idx="82">Homicide Peach</cx:pt>
          <cx:pt idx="83">Packer Madigan</cx:pt>
          <cx:pt idx="84">Bear Graceland</cx:pt>
          <cx:pt idx="85">Fight Jawbreaker</cx:pt>
          <cx:pt idx="86">Hustler Party</cx:pt>
          <cx:pt idx="87">Alter Victory</cx:pt>
          <cx:pt idx="88">Crossroads Casualties</cx:pt>
          <cx:pt idx="89">Doom Dancing</cx:pt>
          <cx:pt idx="90">Resurrection Silverado</cx:pt>
          <cx:pt idx="91">Anaconda Confessions</cx:pt>
          <cx:pt idx="92">Splendor Patton</cx:pt>
          <cx:pt idx="93">Grease Youth</cx:pt>
          <cx:pt idx="94">Wait Cider</cx:pt>
          <cx:pt idx="95">Dracula Crystal</cx:pt>
          <cx:pt idx="96">Sabrina Midnight</cx:pt>
          <cx:pt idx="97">Driving Polish</cx:pt>
          <cx:pt idx="98">Fireball Philadelphia</cx:pt>
          <cx:pt idx="99">Arizona Bang</cx:pt>
          <cx:pt idx="100">Blues Instinct</cx:pt>
          <cx:pt idx="101">Empire Malkovich</cx:pt>
          <cx:pt idx="102">Christmas Moonshine</cx:pt>
          <cx:pt idx="103">Ghost Groundhog</cx:pt>
          <cx:pt idx="104">Secrets Paradise</cx:pt>
          <cx:pt idx="105">Pinocchio Simon</cx:pt>
          <cx:pt idx="106">Tramp Others</cx:pt>
          <cx:pt idx="107">Wrong Behavior</cx:pt>
          <cx:pt idx="108">Go Purple</cx:pt>
          <cx:pt idx="109">Chasing Fight</cx:pt>
          <cx:pt idx="110">Flying Hook</cx:pt>
          <cx:pt idx="111">Masked Bubble</cx:pt>
          <cx:pt idx="112">Dinosaur Secretary</cx:pt>
          <cx:pt idx="113">Million Ace</cx:pt>
          <cx:pt idx="114">Prejudice Oleander</cx:pt>
          <cx:pt idx="115">Chocolat Harry</cx:pt>
          <cx:pt idx="116">Room Roman</cx:pt>
          <cx:pt idx="117">Bringing Hysterical</cx:pt>
          <cx:pt idx="118">Sleepless Monsoon</cx:pt>
          <cx:pt idx="119">Harper Dying</cx:pt>
          <cx:pt idx="120">Insider Arizona</cx:pt>
          <cx:pt idx="121">Heartbreakers Bright</cx:pt>
          <cx:pt idx="122">Outfield Massacre</cx:pt>
          <cx:pt idx="123">Jerk Paycheck</cx:pt>
          <cx:pt idx="124">Club Graffiti</cx:pt>
          <cx:pt idx="125">Sundance Invasion</cx:pt>
          <cx:pt idx="126">Fury Murder</cx:pt>
          <cx:pt idx="127">Pond Seattle</cx:pt>
          <cx:pt idx="128">Music Boondock</cx:pt>
          <cx:pt idx="129">Gorgeous Bingo</cx:pt>
          <cx:pt idx="130">Requiem Tycoon</cx:pt>
          <cx:pt idx="131">Patient Sister</cx:pt>
          <cx:pt idx="132">Gables Metropolis</cx:pt>
          <cx:pt idx="133">Earring Instinct</cx:pt>
          <cx:pt idx="134">Thief Pelican</cx:pt>
          <cx:pt idx="135">Rage Games</cx:pt>
          <cx:pt idx="136">Doors President</cx:pt>
          <cx:pt idx="137">Canyon Stock</cx:pt>
          <cx:pt idx="138">Jedi Beneath</cx:pt>
          <cx:pt idx="139">Clones Pinocchio</cx:pt>
          <cx:pt idx="140">Backlash Undefeated</cx:pt>
          <cx:pt idx="141">Scarface Bang</cx:pt>
          <cx:pt idx="142">Galaxy Sweethearts</cx:pt>
          <cx:pt idx="143">Inch Jet</cx:pt>
          <cx:pt idx="144">Carol Texas</cx:pt>
          <cx:pt idx="145">Vanishing Rocky</cx:pt>
          <cx:pt idx="146">Candidate Perdition</cx:pt>
          <cx:pt idx="147">Polish Brooklyn</cx:pt>
          <cx:pt idx="148">Groundhog Uncut</cx:pt>
          <cx:pt idx="149">Core Suit</cx:pt>
          <cx:pt idx="150">Hope Tootsie</cx:pt>
          <cx:pt idx="151">Paradise Sabrina</cx:pt>
          <cx:pt idx="152">Remember Diary</cx:pt>
          <cx:pt idx="153">Insects Stone</cx:pt>
          <cx:pt idx="154">Wonka Sea</cx:pt>
          <cx:pt idx="155">Heaven Freedom</cx:pt>
          <cx:pt idx="156">Alone Trip</cx:pt>
          <cx:pt idx="157">Sweden Shining</cx:pt>
          <cx:pt idx="158">Lion Uncut</cx:pt>
          <cx:pt idx="159">Mission Zoolander</cx:pt>
          <cx:pt idx="160">Lawless Vision</cx:pt>
          <cx:pt idx="161">Bikini Borrowers</cx:pt>
          <cx:pt idx="162">Hanover Galaxy</cx:pt>
          <cx:pt idx="163">Holocaust Highball</cx:pt>
          <cx:pt idx="164">Confused Candles</cx:pt>
          <cx:pt idx="165">Musketeers Wait</cx:pt>
          <cx:pt idx="166">Taxi Kick</cx:pt>
          <cx:pt idx="167">Noon Papi</cx:pt>
          <cx:pt idx="168">Freaky Pocus</cx:pt>
          <cx:pt idx="169">Gandhi Kwai</cx:pt>
          <cx:pt idx="170">Roots Remember</cx:pt>
          <cx:pt idx="171">Perfect Groove</cx:pt>
          <cx:pt idx="172">Sugar Wonka</cx:pt>
          <cx:pt idx="173">Ferris Mother</cx:pt>
          <cx:pt idx="174">League Hellfighters</cx:pt>
          <cx:pt idx="175">Potter Connecticut</cx:pt>
          <cx:pt idx="176">Conversation Downhill</cx:pt>
          <cx:pt idx="177">Dying Maker</cx:pt>
          <cx:pt idx="178">Louisiana Harry</cx:pt>
          <cx:pt idx="179">Flintstones Happiness</cx:pt>
          <cx:pt idx="180">Intentions Empire</cx:pt>
          <cx:pt idx="181">Zoolander Fiction</cx:pt>
          <cx:pt idx="182">Pure Runner</cx:pt>
          <cx:pt idx="183">Watch Tracy</cx:pt>
          <cx:pt idx="184">Pilot Hoosiers</cx:pt>
          <cx:pt idx="185">Indian Love</cx:pt>
          <cx:pt idx="186">Wizard Coldblooded</cx:pt>
          <cx:pt idx="187">Graduate Lord</cx:pt>
          <cx:pt idx="188">Summer Scarface</cx:pt>
          <cx:pt idx="189">Baked Cleopatra</cx:pt>
          <cx:pt idx="190">Pride Alamo</cx:pt>
          <cx:pt idx="191">Words Hunter</cx:pt>
          <cx:pt idx="192">Willow Tracy</cx:pt>
          <cx:pt idx="193">Jeepers Wedding</cx:pt>
          <cx:pt idx="194">Silence Kane</cx:pt>
          <cx:pt idx="195">Hall Cassidy</cx:pt>
          <cx:pt idx="196">Circus Youth</cx:pt>
          <cx:pt idx="197">Model Fish</cx:pt>
          <cx:pt idx="198">Lonely Elephant</cx:pt>
          <cx:pt idx="199">Manchurian Curtain</cx:pt>
          <cx:pt idx="200">Airplane Sierra</cx:pt>
          <cx:pt idx="201">Cabin Flash</cx:pt>
          <cx:pt idx="202">Betrayed Rear</cx:pt>
          <cx:pt idx="203">Monster Spartacus</cx:pt>
          <cx:pt idx="204">Tootsie Pilot</cx:pt>
          <cx:pt idx="205">Submarine Bed</cx:pt>
          <cx:pt idx="206">Valley Packer</cx:pt>
          <cx:pt idx="207">Nash Chocolat</cx:pt>
          <cx:pt idx="208">Wasteland Divine</cx:pt>
          <cx:pt idx="209">Anthem Luke</cx:pt>
          <cx:pt idx="210">Siege Madre</cx:pt>
          <cx:pt idx="211">Odds Boogie</cx:pt>
          <cx:pt idx="212">Sons Interview</cx:pt>
          <cx:pt idx="213">Hunting Musketeers</cx:pt>
          <cx:pt idx="214">Labyrinth League</cx:pt>
          <cx:pt idx="215">Gold River</cx:pt>
          <cx:pt idx="216">Searchers Wait</cx:pt>
          <cx:pt idx="217">Home Pity</cx:pt>
          <cx:pt idx="218">Pajama Jawbreaker</cx:pt>
          <cx:pt idx="219">Creepers Kane</cx:pt>
          <cx:pt idx="220">Turn Star</cx:pt>
          <cx:pt idx="221">Jaws Harry</cx:pt>
          <cx:pt idx="222">Uncut Suicides</cx:pt>
          <cx:pt idx="223">Donnie Alley</cx:pt>
          <cx:pt idx="224">Personal Ladybugs</cx:pt>
          <cx:pt idx="225">Splash Gump</cx:pt>
          <cx:pt idx="226">Lovely Jingle</cx:pt>
          <cx:pt idx="227">Virtual Spoilers</cx:pt>
          <cx:pt idx="228">Saddle Antitrust</cx:pt>
          <cx:pt idx="229">Party Knock</cx:pt>
          <cx:pt idx="230">Lucky Flying</cx:pt>
          <cx:pt idx="231">Forever Candidate</cx:pt>
          <cx:pt idx="232">Opposite Necklace</cx:pt>
          <cx:pt idx="233">Microcosmos Paradise</cx:pt>
          <cx:pt idx="234">Champion Flatliners</cx:pt>
          <cx:pt idx="235">Mulan Moon</cx:pt>
          <cx:pt idx="236">Jingle Sagebrush</cx:pt>
          <cx:pt idx="237">Bedazzled Married</cx:pt>
          <cx:pt idx="238">Robbery Bright</cx:pt>
          <cx:pt idx="239">Natural Stock</cx:pt>
          <cx:pt idx="240">Spiking Element</cx:pt>
          <cx:pt idx="241">Chisum Behavior</cx:pt>
          <cx:pt idx="242">Spinal Rocky</cx:pt>
          <cx:pt idx="243">Date Speed</cx:pt>
          <cx:pt idx="244">Daddy Pittsburgh</cx:pt>
          <cx:pt idx="245">Super Wyoming</cx:pt>
          <cx:pt idx="246">Hook Chariots</cx:pt>
          <cx:pt idx="247">Hollywood Anonymous</cx:pt>
          <cx:pt idx="248">Chamber Italian</cx:pt>
          <cx:pt idx="249">Bilko Anonymous</cx:pt>
          <cx:pt idx="250">Memento Zoolander</cx:pt>
          <cx:pt idx="251">Saturn Name</cx:pt>
          <cx:pt idx="252">Finding Anaconda</cx:pt>
          <cx:pt idx="253">African Egg</cx:pt>
          <cx:pt idx="254">Massage Image</cx:pt>
          <cx:pt idx="255">Pittsburgh Hunchback</cx:pt>
          <cx:pt idx="256">Uptown Young</cx:pt>
          <cx:pt idx="257">Hedwig Alter</cx:pt>
          <cx:pt idx="258">Blanket Beverly</cx:pt>
          <cx:pt idx="259">Minority Kiss</cx:pt>
          <cx:pt idx="260">Language Cowboy</cx:pt>
          <cx:pt idx="261">Trainspotting Strangers</cx:pt>
          <cx:pt idx="262">Ties Hunger</cx:pt>
          <cx:pt idx="263">Birch Antitrust</cx:pt>
          <cx:pt idx="264">Potluck Mixed</cx:pt>
          <cx:pt idx="265">Iron Moon</cx:pt>
          <cx:pt idx="266">Theory Mermaid</cx:pt>
          <cx:pt idx="267">Santa Paris</cx:pt>
          <cx:pt idx="268">Towers Hurricane</cx:pt>
          <cx:pt idx="269">Song Hedwig</cx:pt>
          <cx:pt idx="270">Twisted Pirates</cx:pt>
          <cx:pt idx="271">Beast Hunchback</cx:pt>
          <cx:pt idx="272">Prix Undefeated</cx:pt>
          <cx:pt idx="273">October Submarine</cx:pt>
          <cx:pt idx="274">Stranger Strangers</cx:pt>
          <cx:pt idx="275">Beneath Rush</cx:pt>
          <cx:pt idx="276">Stage World</cx:pt>
          <cx:pt idx="277">Lolita World</cx:pt>
          <cx:pt idx="278">Jeopardy Encino</cx:pt>
          <cx:pt idx="279">Lover Truman</cx:pt>
          <cx:pt idx="280">Blood Argonauts</cx:pt>
          <cx:pt idx="281">Sensibility Rear</cx:pt>
          <cx:pt idx="282">Right Cranes</cx:pt>
          <cx:pt idx="283">Amelie Hellfighters</cx:pt>
          <cx:pt idx="284">Mystic Truman</cx:pt>
          <cx:pt idx="285">Oleander Clue</cx:pt>
          <cx:pt idx="286">Life Twisted</cx:pt>
          <cx:pt idx="287">Maker Gables</cx:pt>
          <cx:pt idx="288">Jawbreaker Brooklyn</cx:pt>
          <cx:pt idx="289">Element Freddy</cx:pt>
          <cx:pt idx="290">Clockwork Paradise</cx:pt>
          <cx:pt idx="291">Wisdom Worker</cx:pt>
          <cx:pt idx="292">King Evolution</cx:pt>
          <cx:pt idx="293">Snatchers Montezuma</cx:pt>
          <cx:pt idx="294">Legally Secretary</cx:pt>
          <cx:pt idx="295">Impact Aladdin</cx:pt>
          <cx:pt idx="296">Legend Jedi</cx:pt>
          <cx:pt idx="297">Reds Pocus</cx:pt>
          <cx:pt idx="298">Holy Tadpole</cx:pt>
          <cx:pt idx="299">Spartacus Cheaper</cx:pt>
          <cx:pt idx="300">Dares Pluto</cx:pt>
          <cx:pt idx="301">Birdcage Casper</cx:pt>
          <cx:pt idx="302">Gilbert Pelican</cx:pt>
          <cx:pt idx="303">Maguire Apache</cx:pt>
          <cx:pt idx="304">Miracle Virtual</cx:pt>
          <cx:pt idx="305">Won Dares</cx:pt>
          <cx:pt idx="306">Crazy Home</cx:pt>
          <cx:pt idx="307">Ghostbusters Elf</cx:pt>
          <cx:pt idx="308">Daughter Madigan</cx:pt>
          <cx:pt idx="309">Runner Madigan</cx:pt>
          <cx:pt idx="310">Lights Deer</cx:pt>
          <cx:pt idx="311">Vertigo Northwest</cx:pt>
          <cx:pt idx="312">Soup Wisdom</cx:pt>
          <cx:pt idx="313">Rebel Airport</cx:pt>
          <cx:pt idx="314">Punk Divorce</cx:pt>
          <cx:pt idx="315">Casper Dragonfly</cx:pt>
          <cx:pt idx="316">Magnificent Chitty</cx:pt>
          <cx:pt idx="317">Desire Alien</cx:pt>
          <cx:pt idx="318">Grosse Wonderful</cx:pt>
          <cx:pt idx="319">Sunset Racer</cx:pt>
          <cx:pt idx="320">Menagerie Rushmore</cx:pt>
          <cx:pt idx="321">President Bang</cx:pt>
          <cx:pt idx="322">Control Anthem</cx:pt>
          <cx:pt idx="323">Ishtar Rocketeer</cx:pt>
          <cx:pt idx="324">Luke Mummy</cx:pt>
          <cx:pt idx="325">Clue Grail</cx:pt>
          <cx:pt idx="326">Early Home</cx:pt>
          <cx:pt idx="327">Magic Mallrats</cx:pt>
          <cx:pt idx="328">Elf Murder</cx:pt>
          <cx:pt idx="329">Doctor Grail</cx:pt>
          <cx:pt idx="330">Bang Kwai</cx:pt>
          <cx:pt idx="331">Cruelty Unforgiven</cx:pt>
          <cx:pt idx="332">Heavenly Gun</cx:pt>
          <cx:pt idx="333">Connection Microcosmos</cx:pt>
          <cx:pt idx="334">Killer Innocent</cx:pt>
          <cx:pt idx="335">Duck Racer</cx:pt>
          <cx:pt idx="336">Comancheros Enemy</cx:pt>
          <cx:pt idx="337">Extraordinary Conquerer</cx:pt>
          <cx:pt idx="338">Jersey Sassy</cx:pt>
          <cx:pt idx="339">Warlock Werewolf</cx:pt>
          <cx:pt idx="340">Sling Luke</cx:pt>
          <cx:pt idx="341">Rushmore Mermaid</cx:pt>
          <cx:pt idx="342">Youth Kick</cx:pt>
          <cx:pt idx="343">Tequila Past</cx:pt>
          <cx:pt idx="344">Terminator Club</cx:pt>
          <cx:pt idx="345">Dumbo Lust</cx:pt>
          <cx:pt idx="346">Braveheart Human</cx:pt>
          <cx:pt idx="347">Full Flatliners</cx:pt>
          <cx:pt idx="348">Conspiracy Spirit</cx:pt>
          <cx:pt idx="349">Freedom Cleopatra</cx:pt>
        </cx:lvl>
      </cx:strDim>
      <cx:numDim type="val">
        <cx:f>Sheet1!$B$2:$B$351</cx:f>
        <cx:lvl ptCount="350" formatCode="General">
          <cx:pt idx="0">32</cx:pt>
          <cx:pt idx="1">32</cx:pt>
          <cx:pt idx="2">31</cx:pt>
          <cx:pt idx="3">31</cx:pt>
          <cx:pt idx="4">31</cx:pt>
          <cx:pt idx="5">31</cx:pt>
          <cx:pt idx="6">31</cx:pt>
          <cx:pt idx="7">31</cx:pt>
          <cx:pt idx="8">30</cx:pt>
          <cx:pt idx="9">30</cx:pt>
          <cx:pt idx="10">30</cx:pt>
          <cx:pt idx="11">30</cx:pt>
          <cx:pt idx="12">29</cx:pt>
          <cx:pt idx="13">29</cx:pt>
          <cx:pt idx="14">29</cx:pt>
          <cx:pt idx="15">29</cx:pt>
          <cx:pt idx="16">29</cx:pt>
          <cx:pt idx="17">29</cx:pt>
          <cx:pt idx="18">29</cx:pt>
          <cx:pt idx="19">28</cx:pt>
          <cx:pt idx="20">28</cx:pt>
          <cx:pt idx="21">28</cx:pt>
          <cx:pt idx="22">28</cx:pt>
          <cx:pt idx="23">27</cx:pt>
          <cx:pt idx="24">27</cx:pt>
          <cx:pt idx="25">27</cx:pt>
          <cx:pt idx="26">27</cx:pt>
          <cx:pt idx="27">27</cx:pt>
          <cx:pt idx="28">27</cx:pt>
          <cx:pt idx="29">27</cx:pt>
          <cx:pt idx="30">27</cx:pt>
          <cx:pt idx="31">27</cx:pt>
          <cx:pt idx="32">27</cx:pt>
          <cx:pt idx="33">27</cx:pt>
          <cx:pt idx="34">26</cx:pt>
          <cx:pt idx="35">26</cx:pt>
          <cx:pt idx="36">26</cx:pt>
          <cx:pt idx="37">26</cx:pt>
          <cx:pt idx="38">26</cx:pt>
          <cx:pt idx="39">26</cx:pt>
          <cx:pt idx="40">26</cx:pt>
          <cx:pt idx="41">26</cx:pt>
          <cx:pt idx="42">25</cx:pt>
          <cx:pt idx="43">25</cx:pt>
          <cx:pt idx="44">25</cx:pt>
          <cx:pt idx="45">25</cx:pt>
          <cx:pt idx="46">25</cx:pt>
          <cx:pt idx="47">25</cx:pt>
          <cx:pt idx="48">25</cx:pt>
          <cx:pt idx="49">25</cx:pt>
          <cx:pt idx="50">25</cx:pt>
          <cx:pt idx="51">25</cx:pt>
          <cx:pt idx="52">25</cx:pt>
          <cx:pt idx="53">24</cx:pt>
          <cx:pt idx="54">24</cx:pt>
          <cx:pt idx="55">24</cx:pt>
          <cx:pt idx="56">24</cx:pt>
          <cx:pt idx="57">24</cx:pt>
          <cx:pt idx="58">24</cx:pt>
          <cx:pt idx="59">24</cx:pt>
          <cx:pt idx="60">24</cx:pt>
          <cx:pt idx="61">24</cx:pt>
          <cx:pt idx="62">24</cx:pt>
          <cx:pt idx="63">24</cx:pt>
          <cx:pt idx="64">24</cx:pt>
          <cx:pt idx="65">24</cx:pt>
          <cx:pt idx="66">24</cx:pt>
          <cx:pt idx="67">24</cx:pt>
          <cx:pt idx="68">24</cx:pt>
          <cx:pt idx="69">24</cx:pt>
          <cx:pt idx="70">23</cx:pt>
          <cx:pt idx="71">23</cx:pt>
          <cx:pt idx="72">23</cx:pt>
          <cx:pt idx="73">23</cx:pt>
          <cx:pt idx="74">23</cx:pt>
          <cx:pt idx="75">23</cx:pt>
          <cx:pt idx="76">23</cx:pt>
          <cx:pt idx="77">23</cx:pt>
          <cx:pt idx="78">22</cx:pt>
          <cx:pt idx="79">22</cx:pt>
          <cx:pt idx="80">22</cx:pt>
          <cx:pt idx="81">22</cx:pt>
          <cx:pt idx="82">22</cx:pt>
          <cx:pt idx="83">22</cx:pt>
          <cx:pt idx="84">22</cx:pt>
          <cx:pt idx="85">22</cx:pt>
          <cx:pt idx="86">22</cx:pt>
          <cx:pt idx="87">22</cx:pt>
          <cx:pt idx="88">21</cx:pt>
          <cx:pt idx="89">21</cx:pt>
          <cx:pt idx="90">21</cx:pt>
          <cx:pt idx="91">21</cx:pt>
          <cx:pt idx="92">21</cx:pt>
          <cx:pt idx="93">21</cx:pt>
          <cx:pt idx="94">21</cx:pt>
          <cx:pt idx="95">21</cx:pt>
          <cx:pt idx="96">21</cx:pt>
          <cx:pt idx="97">21</cx:pt>
          <cx:pt idx="98">21</cx:pt>
          <cx:pt idx="99">21</cx:pt>
          <cx:pt idx="100">21</cx:pt>
          <cx:pt idx="101">21</cx:pt>
          <cx:pt idx="102">21</cx:pt>
          <cx:pt idx="103">21</cx:pt>
          <cx:pt idx="104">20</cx:pt>
          <cx:pt idx="105">20</cx:pt>
          <cx:pt idx="106">20</cx:pt>
          <cx:pt idx="107">20</cx:pt>
          <cx:pt idx="108">20</cx:pt>
          <cx:pt idx="109">20</cx:pt>
          <cx:pt idx="110">20</cx:pt>
          <cx:pt idx="111">20</cx:pt>
          <cx:pt idx="112">20</cx:pt>
          <cx:pt idx="113">20</cx:pt>
          <cx:pt idx="114">20</cx:pt>
          <cx:pt idx="115">20</cx:pt>
          <cx:pt idx="116">20</cx:pt>
          <cx:pt idx="117">20</cx:pt>
          <cx:pt idx="118">20</cx:pt>
          <cx:pt idx="119">20</cx:pt>
          <cx:pt idx="120">20</cx:pt>
          <cx:pt idx="121">20</cx:pt>
          <cx:pt idx="122">20</cx:pt>
          <cx:pt idx="123">20</cx:pt>
          <cx:pt idx="124">19</cx:pt>
          <cx:pt idx="125">19</cx:pt>
          <cx:pt idx="126">19</cx:pt>
          <cx:pt idx="127">19</cx:pt>
          <cx:pt idx="128">19</cx:pt>
          <cx:pt idx="129">19</cx:pt>
          <cx:pt idx="130">19</cx:pt>
          <cx:pt idx="131">19</cx:pt>
          <cx:pt idx="132">19</cx:pt>
          <cx:pt idx="133">19</cx:pt>
          <cx:pt idx="134">19</cx:pt>
          <cx:pt idx="135">19</cx:pt>
          <cx:pt idx="136">19</cx:pt>
          <cx:pt idx="137">19</cx:pt>
          <cx:pt idx="138">19</cx:pt>
          <cx:pt idx="139">19</cx:pt>
          <cx:pt idx="140">19</cx:pt>
          <cx:pt idx="141">18</cx:pt>
          <cx:pt idx="142">18</cx:pt>
          <cx:pt idx="143">18</cx:pt>
          <cx:pt idx="144">18</cx:pt>
          <cx:pt idx="145">18</cx:pt>
          <cx:pt idx="146">18</cx:pt>
          <cx:pt idx="147">18</cx:pt>
          <cx:pt idx="148">18</cx:pt>
          <cx:pt idx="149">18</cx:pt>
          <cx:pt idx="150">18</cx:pt>
          <cx:pt idx="151">18</cx:pt>
          <cx:pt idx="152">18</cx:pt>
          <cx:pt idx="153">18</cx:pt>
          <cx:pt idx="154">18</cx:pt>
          <cx:pt idx="155">18</cx:pt>
          <cx:pt idx="156">18</cx:pt>
          <cx:pt idx="157">18</cx:pt>
          <cx:pt idx="158">18</cx:pt>
          <cx:pt idx="159">18</cx:pt>
          <cx:pt idx="160">17</cx:pt>
          <cx:pt idx="161">17</cx:pt>
          <cx:pt idx="162">17</cx:pt>
          <cx:pt idx="163">17</cx:pt>
          <cx:pt idx="164">17</cx:pt>
          <cx:pt idx="165">17</cx:pt>
          <cx:pt idx="166">17</cx:pt>
          <cx:pt idx="167">17</cx:pt>
          <cx:pt idx="168">17</cx:pt>
          <cx:pt idx="169">17</cx:pt>
          <cx:pt idx="170">17</cx:pt>
          <cx:pt idx="171">17</cx:pt>
          <cx:pt idx="172">17</cx:pt>
          <cx:pt idx="173">17</cx:pt>
          <cx:pt idx="174">17</cx:pt>
          <cx:pt idx="175">17</cx:pt>
          <cx:pt idx="176">17</cx:pt>
          <cx:pt idx="177">17</cx:pt>
          <cx:pt idx="178">17</cx:pt>
          <cx:pt idx="179">17</cx:pt>
          <cx:pt idx="180">17</cx:pt>
          <cx:pt idx="181">17</cx:pt>
          <cx:pt idx="182">16</cx:pt>
          <cx:pt idx="183">16</cx:pt>
          <cx:pt idx="184">16</cx:pt>
          <cx:pt idx="185">16</cx:pt>
          <cx:pt idx="186">16</cx:pt>
          <cx:pt idx="187">16</cx:pt>
          <cx:pt idx="188">16</cx:pt>
          <cx:pt idx="189">16</cx:pt>
          <cx:pt idx="190">16</cx:pt>
          <cx:pt idx="191">16</cx:pt>
          <cx:pt idx="192">16</cx:pt>
          <cx:pt idx="193">16</cx:pt>
          <cx:pt idx="194">16</cx:pt>
          <cx:pt idx="195">16</cx:pt>
          <cx:pt idx="196">15</cx:pt>
          <cx:pt idx="197">15</cx:pt>
          <cx:pt idx="198">15</cx:pt>
          <cx:pt idx="199">15</cx:pt>
          <cx:pt idx="200">15</cx:pt>
          <cx:pt idx="201">15</cx:pt>
          <cx:pt idx="202">15</cx:pt>
          <cx:pt idx="203">15</cx:pt>
          <cx:pt idx="204">15</cx:pt>
          <cx:pt idx="205">15</cx:pt>
          <cx:pt idx="206">15</cx:pt>
          <cx:pt idx="207">15</cx:pt>
          <cx:pt idx="208">15</cx:pt>
          <cx:pt idx="209">15</cx:pt>
          <cx:pt idx="210">15</cx:pt>
          <cx:pt idx="211">15</cx:pt>
          <cx:pt idx="212">15</cx:pt>
          <cx:pt idx="213">15</cx:pt>
          <cx:pt idx="214">15</cx:pt>
          <cx:pt idx="215">14</cx:pt>
          <cx:pt idx="216">14</cx:pt>
          <cx:pt idx="217">14</cx:pt>
          <cx:pt idx="218">14</cx:pt>
          <cx:pt idx="219">14</cx:pt>
          <cx:pt idx="220">14</cx:pt>
          <cx:pt idx="221">14</cx:pt>
          <cx:pt idx="222">14</cx:pt>
          <cx:pt idx="223">14</cx:pt>
          <cx:pt idx="224">14</cx:pt>
          <cx:pt idx="225">14</cx:pt>
          <cx:pt idx="226">14</cx:pt>
          <cx:pt idx="227">14</cx:pt>
          <cx:pt idx="228">14</cx:pt>
          <cx:pt idx="229">13</cx:pt>
          <cx:pt idx="230">13</cx:pt>
          <cx:pt idx="231">13</cx:pt>
          <cx:pt idx="232">13</cx:pt>
          <cx:pt idx="233">13</cx:pt>
          <cx:pt idx="234">13</cx:pt>
          <cx:pt idx="235">13</cx:pt>
          <cx:pt idx="236">13</cx:pt>
          <cx:pt idx="237">13</cx:pt>
          <cx:pt idx="238">13</cx:pt>
          <cx:pt idx="239">13</cx:pt>
          <cx:pt idx="240">13</cx:pt>
          <cx:pt idx="241">13</cx:pt>
          <cx:pt idx="242">13</cx:pt>
          <cx:pt idx="243">13</cx:pt>
          <cx:pt idx="244">13</cx:pt>
          <cx:pt idx="245">13</cx:pt>
          <cx:pt idx="246">13</cx:pt>
          <cx:pt idx="247">13</cx:pt>
          <cx:pt idx="248">13</cx:pt>
          <cx:pt idx="249">13</cx:pt>
          <cx:pt idx="250">13</cx:pt>
          <cx:pt idx="251">13</cx:pt>
          <cx:pt idx="252">12</cx:pt>
          <cx:pt idx="253">12</cx:pt>
          <cx:pt idx="254">12</cx:pt>
          <cx:pt idx="255">12</cx:pt>
          <cx:pt idx="256">12</cx:pt>
          <cx:pt idx="257">12</cx:pt>
          <cx:pt idx="258">12</cx:pt>
          <cx:pt idx="259">12</cx:pt>
          <cx:pt idx="260">11</cx:pt>
          <cx:pt idx="261">11</cx:pt>
          <cx:pt idx="262">11</cx:pt>
          <cx:pt idx="263">11</cx:pt>
          <cx:pt idx="264">11</cx:pt>
          <cx:pt idx="265">11</cx:pt>
          <cx:pt idx="266">11</cx:pt>
          <cx:pt idx="267">11</cx:pt>
          <cx:pt idx="268">11</cx:pt>
          <cx:pt idx="269">11</cx:pt>
          <cx:pt idx="270">11</cx:pt>
          <cx:pt idx="271">11</cx:pt>
          <cx:pt idx="272">11</cx:pt>
          <cx:pt idx="273">11</cx:pt>
          <cx:pt idx="274">11</cx:pt>
          <cx:pt idx="275">10</cx:pt>
          <cx:pt idx="276">10</cx:pt>
          <cx:pt idx="277">10</cx:pt>
          <cx:pt idx="278">10</cx:pt>
          <cx:pt idx="279">10</cx:pt>
          <cx:pt idx="280">10</cx:pt>
          <cx:pt idx="281">10</cx:pt>
          <cx:pt idx="282">10</cx:pt>
          <cx:pt idx="283">10</cx:pt>
          <cx:pt idx="284">10</cx:pt>
          <cx:pt idx="285">10</cx:pt>
          <cx:pt idx="286">10</cx:pt>
          <cx:pt idx="287">10</cx:pt>
          <cx:pt idx="288">10</cx:pt>
          <cx:pt idx="289">10</cx:pt>
          <cx:pt idx="290">10</cx:pt>
          <cx:pt idx="291">9</cx:pt>
          <cx:pt idx="292">9</cx:pt>
          <cx:pt idx="293">9</cx:pt>
          <cx:pt idx="294">9</cx:pt>
          <cx:pt idx="295">9</cx:pt>
          <cx:pt idx="296">9</cx:pt>
          <cx:pt idx="297">9</cx:pt>
          <cx:pt idx="298">9</cx:pt>
          <cx:pt idx="299">9</cx:pt>
          <cx:pt idx="300">9</cx:pt>
          <cx:pt idx="301">9</cx:pt>
          <cx:pt idx="302">9</cx:pt>
          <cx:pt idx="303">9</cx:pt>
          <cx:pt idx="304">9</cx:pt>
          <cx:pt idx="305">9</cx:pt>
          <cx:pt idx="306">9</cx:pt>
          <cx:pt idx="307">9</cx:pt>
          <cx:pt idx="308">9</cx:pt>
          <cx:pt idx="309">8</cx:pt>
          <cx:pt idx="310">8</cx:pt>
          <cx:pt idx="311">8</cx:pt>
          <cx:pt idx="312">8</cx:pt>
          <cx:pt idx="313">8</cx:pt>
          <cx:pt idx="314">8</cx:pt>
          <cx:pt idx="315">8</cx:pt>
          <cx:pt idx="316">8</cx:pt>
          <cx:pt idx="317">8</cx:pt>
          <cx:pt idx="318">8</cx:pt>
          <cx:pt idx="319">8</cx:pt>
          <cx:pt idx="320">7</cx:pt>
          <cx:pt idx="321">7</cx:pt>
          <cx:pt idx="322">7</cx:pt>
          <cx:pt idx="323">7</cx:pt>
          <cx:pt idx="324">7</cx:pt>
          <cx:pt idx="325">7</cx:pt>
          <cx:pt idx="326">7</cx:pt>
          <cx:pt idx="327">7</cx:pt>
          <cx:pt idx="328">7</cx:pt>
          <cx:pt idx="329">7</cx:pt>
          <cx:pt idx="330">7</cx:pt>
          <cx:pt idx="331">7</cx:pt>
          <cx:pt idx="332">7</cx:pt>
          <cx:pt idx="333">7</cx:pt>
          <cx:pt idx="334">6</cx:pt>
          <cx:pt idx="335">6</cx:pt>
          <cx:pt idx="336">6</cx:pt>
          <cx:pt idx="337">6</cx:pt>
          <cx:pt idx="338">6</cx:pt>
          <cx:pt idx="339">6</cx:pt>
          <cx:pt idx="340">6</cx:pt>
          <cx:pt idx="341">6</cx:pt>
          <cx:pt idx="342">6</cx:pt>
          <cx:pt idx="343">6</cx:pt>
          <cx:pt idx="344">6</cx:pt>
          <cx:pt idx="345">6</cx:pt>
          <cx:pt idx="346">5</cx:pt>
          <cx:pt idx="347">5</cx:pt>
          <cx:pt idx="348">5</cx:pt>
          <cx:pt idx="349">5</cx:pt>
        </cx:lvl>
      </cx:numDim>
    </cx:data>
  </cx:chartData>
  <cx:chart>
    <cx:title pos="t" align="ctr" overlay="1">
      <cx:tx>
        <cx:rich>
          <a:bodyPr rot="0" spcFirstLastPara="1" vertOverflow="ellipsis" vert="horz" wrap="square" lIns="38100" tIns="19050" rIns="38100" bIns="19050" anchor="ctr" anchorCtr="1" compatLnSpc="0"/>
          <a:lstStyle/>
          <a:p>
            <a:pPr algn="ctr" rtl="0">
              <a:defRPr sz="1400" b="0" i="0" u="none" strike="noStrike" baseline="0">
                <a:solidFill>
                  <a:sysClr val="windowText" lastClr="000000">
                    <a:lumMod val="65000"/>
                    <a:lumOff val="35000"/>
                  </a:sysClr>
                </a:solidFill>
                <a:latin typeface="+mn-lt"/>
                <a:ea typeface="+mn-ea"/>
                <a:cs typeface="+mn-cs"/>
              </a:defRPr>
            </a:pPr>
            <a:r>
              <a:rPr kumimoji="0" lang="en-US" sz="1400" b="0" i="0" u="none" strike="noStrike" kern="0" cap="none" spc="0" normalizeH="0" baseline="0" noProof="0" dirty="0">
                <a:ln>
                  <a:noFill/>
                </a:ln>
                <a:solidFill>
                  <a:sysClr val="windowText" lastClr="000000">
                    <a:lumMod val="65000"/>
                    <a:lumOff val="35000"/>
                  </a:sysClr>
                </a:solidFill>
                <a:effectLst/>
                <a:highlight>
                  <a:srgbClr val="C0C0C0"/>
                </a:highlight>
                <a:uLnTx/>
                <a:uFillTx/>
                <a:latin typeface="Calibri" panose="020F0502020204030204"/>
              </a:rPr>
              <a:t>Each film's sum of </a:t>
            </a:r>
            <a:r>
              <a:rPr kumimoji="0" lang="en-US" sz="1400" b="0" i="0" u="none" strike="noStrike" kern="0" cap="none" spc="0" normalizeH="0" baseline="0" noProof="0" dirty="0" err="1">
                <a:ln>
                  <a:noFill/>
                </a:ln>
                <a:solidFill>
                  <a:sysClr val="windowText" lastClr="000000">
                    <a:lumMod val="65000"/>
                    <a:lumOff val="35000"/>
                  </a:sysClr>
                </a:solidFill>
                <a:effectLst/>
                <a:highlight>
                  <a:srgbClr val="C0C0C0"/>
                </a:highlight>
                <a:uLnTx/>
                <a:uFillTx/>
                <a:latin typeface="Calibri" panose="020F0502020204030204"/>
              </a:rPr>
              <a:t>rental_count</a:t>
            </a:r>
            <a:endParaRPr kumimoji="0" lang="en-US" sz="1400" b="0" i="0" u="none" strike="noStrike" kern="0" cap="none" spc="0" normalizeH="0" baseline="0" noProof="0" dirty="0">
              <a:ln>
                <a:noFill/>
              </a:ln>
              <a:solidFill>
                <a:sysClr val="windowText" lastClr="000000">
                  <a:lumMod val="65000"/>
                  <a:lumOff val="35000"/>
                </a:sysClr>
              </a:solidFill>
              <a:effectLst/>
              <a:highlight>
                <a:srgbClr val="C0C0C0"/>
              </a:highlight>
              <a:uLnTx/>
              <a:uFillTx/>
              <a:latin typeface="Calibri" panose="020F0502020204030204"/>
            </a:endParaRPr>
          </a:p>
        </cx:rich>
      </cx:tx>
    </cx:title>
    <cx:plotArea>
      <cx:plotAreaRegion>
        <cx:series layoutId="clusteredColumn" uniqueId="{963E6DE1-0450-425A-AD5D-EEC0FC5B6482}">
          <cx:tx>
            <cx:txData>
              <cx:f>Sheet1!$B$1</cx:f>
              <cx:v>Sum of rental_count</cx:v>
            </cx:txData>
          </cx:tx>
          <cx:dataLabels>
            <cx:visibility seriesName="0" categoryName="0" value="1"/>
          </cx:dataLabels>
          <cx:dataId val="0"/>
          <cx:layoutPr>
            <cx:aggregation/>
          </cx:layoutPr>
          <cx:axisId val="1"/>
        </cx:series>
        <cx:series layoutId="paretoLine" ownerIdx="0" uniqueId="{F57F9B8B-14EE-48FD-BF79-022D8A02EFF9}">
          <cx:axisId val="2"/>
        </cx:series>
      </cx:plotAreaRegion>
      <cx:axis id="0">
        <cx:catScaling gapWidth="0"/>
        <cx:title>
          <cx:tx>
            <cx:rich>
              <a:bodyPr spcFirstLastPara="1" vertOverflow="ellipsis" horzOverflow="overflow" wrap="square" lIns="0" tIns="0" rIns="0" bIns="0" anchor="ctr" anchorCtr="1"/>
              <a:lstStyle/>
              <a:p>
                <a:pPr algn="ctr" rtl="0">
                  <a:defRPr/>
                </a:pPr>
                <a:r>
                  <a:rPr lang="en-US" sz="1197" b="0" i="0" u="none" strike="noStrike" baseline="0" dirty="0">
                    <a:solidFill>
                      <a:srgbClr val="FFFFFF"/>
                    </a:solidFill>
                    <a:latin typeface="Arial"/>
                  </a:rPr>
                  <a:t>Film title</a:t>
                </a:r>
              </a:p>
            </cx:rich>
          </cx:tx>
        </cx:title>
        <cx:tickLabels/>
      </cx:axis>
      <cx:axis id="1">
        <cx:valScaling/>
        <cx:title>
          <cx:tx>
            <cx:rich>
              <a:bodyPr spcFirstLastPara="1" vertOverflow="ellipsis" horzOverflow="overflow" wrap="square" lIns="0" tIns="0" rIns="0" bIns="0" anchor="ctr" anchorCtr="1"/>
              <a:lstStyle/>
              <a:p>
                <a:pPr algn="ctr" rtl="0">
                  <a:defRPr/>
                </a:pPr>
                <a:r>
                  <a:rPr lang="en-US" sz="1197" b="0" i="0" u="none" strike="noStrike" baseline="0" dirty="0">
                    <a:solidFill>
                      <a:srgbClr val="FFFFFF"/>
                    </a:solidFill>
                    <a:latin typeface="Arial"/>
                  </a:rPr>
                  <a:t>No of rental count</a:t>
                </a:r>
              </a:p>
            </cx:rich>
          </cx:tx>
        </cx:title>
        <cx:majorGridlines/>
        <cx:tickLabels/>
      </cx:axis>
      <cx:axis id="2">
        <cx:valScaling max="1" min="0"/>
        <cx:title>
          <cx:tx>
            <cx:rich>
              <a:bodyPr spcFirstLastPara="1" vertOverflow="ellipsis" horzOverflow="overflow" wrap="square" lIns="0" tIns="0" rIns="0" bIns="0" anchor="ctr" anchorCtr="1"/>
              <a:lstStyle/>
              <a:p>
                <a:pPr algn="ctr" rtl="0">
                  <a:defRPr/>
                </a:pPr>
                <a:r>
                  <a:rPr lang="en-US" sz="1197" b="0" i="0" u="none" strike="noStrike" baseline="0" dirty="0">
                    <a:solidFill>
                      <a:srgbClr val="FFFFFF"/>
                    </a:solidFill>
                    <a:latin typeface="Arial"/>
                  </a:rPr>
                  <a:t>Percentage of total</a:t>
                </a:r>
              </a:p>
            </cx:rich>
          </cx:tx>
        </cx:title>
        <cx:units unit="percentage"/>
        <cx:tickLabels/>
      </cx:axis>
    </cx:plotArea>
    <cx:legend pos="t" align="ctr" overlay="0"/>
  </cx:chart>
</cx: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71">
  <cs:axisTitle>
    <cs:lnRef idx="0"/>
    <cs:fillRef idx="0"/>
    <cs:effectRef idx="0"/>
    <cs:fontRef idx="minor">
      <a:schemeClr val="lt1"/>
    </cs:fontRef>
    <cs:defRPr sz="1197"/>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4"/>
    <cs:bodyPr/>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cs:chartArea>
  <cs:dataLabel>
    <cs:lnRef idx="0"/>
    <cs:fillRef idx="0">
      <cs:styleClr val="auto"/>
    </cs:fillRef>
    <cs:effectRef idx="0"/>
    <cs:fontRef idx="minor">
      <a:schemeClr val="dk1"/>
    </cs:fontRef>
    <cs:spPr>
      <a:solidFill>
        <a:schemeClr val="phClr">
          <a:alpha val="70000"/>
        </a:schemeClr>
      </a:solidFill>
    </cs:spPr>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a:ln w="9525">
        <a:solidFill>
          <a:schemeClr val="tx1"/>
        </a:solidFill>
      </a:ln>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dk1"/>
    </cs:fontRef>
    <cs:spPr>
      <a:ln w="2857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cs:dataTable>
  <cs:downBar>
    <cs:lnRef idx="0"/>
    <cs:fillRef idx="0"/>
    <cs:effectRef idx="0"/>
    <cs:fontRef idx="minor">
      <a:schemeClr val="dk1"/>
    </cs:fontRef>
    <cs:spPr>
      <a:solidFill>
        <a:schemeClr val="dk1"/>
      </a:solidFill>
    </cs:spPr>
  </cs:downBar>
  <cs:dropLine>
    <cs:lnRef idx="0"/>
    <cs:fillRef idx="0"/>
    <cs:effectRef idx="0"/>
    <cs:fontRef idx="minor">
      <a:schemeClr val="tx1"/>
    </cs:fontRef>
    <cs:spPr>
      <a:ln w="9525">
        <a:solidFill>
          <a:schemeClr val="lt1"/>
        </a:solidFill>
        <a:prstDash val="dash"/>
      </a:ln>
    </cs:spPr>
  </cs:dropLine>
  <cs:errorBar>
    <cs:lnRef idx="0"/>
    <cs:fillRef idx="0"/>
    <cs:effectRef idx="0"/>
    <cs:fontRef idx="minor">
      <a:schemeClr val="tx1"/>
    </cs:fontRef>
    <cs:spPr>
      <a:ln w="9525" cap="flat" cmpd="sng" algn="ctr">
        <a:solidFill>
          <a:schemeClr val="lt1"/>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lt1">
            <a:alpha val="25000"/>
          </a:schemeClr>
        </a:solidFill>
        <a:round/>
      </a:ln>
    </cs:spPr>
  </cs:gridlineMajor>
  <cs:gridlineMinor>
    <cs:lnRef idx="0"/>
    <cs:fillRef idx="0"/>
    <cs:effectRef idx="0"/>
    <cs:fontRef idx="minor">
      <a:schemeClr val="dk1"/>
    </cs:fontRef>
    <cs:spPr>
      <a:ln>
        <a:solidFill>
          <a:schemeClr val="lt1">
            <a:alpha val="25000"/>
            <a:lumOff val="10000"/>
          </a:schemeClr>
        </a:solidFill>
      </a:ln>
    </cs:spPr>
  </cs:gridlineMinor>
  <cs:hiLoLine>
    <cs:lnRef idx="0"/>
    <cs:fillRef idx="0"/>
    <cs:effectRef idx="0"/>
    <cs:fontRef idx="minor">
      <a:schemeClr val="tx1"/>
    </cs:fontRef>
    <cs:spPr>
      <a:ln w="9525">
        <a:solidFill>
          <a:schemeClr val="lt1"/>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cs:fontRef>
    <cs:defRPr sz="1197"/>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cs:bodyPr/>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cs:fontRef>
    <cs:defRPr sz="1995" b="1" cap="all" spc="100"/>
    <cs:bodyPr/>
  </cs:title>
  <cs:trendline>
    <cs:lnRef idx="0"/>
    <cs:fillRef idx="0"/>
    <cs:effectRef idx="0"/>
    <cs:fontRef idx="minor">
      <a:schemeClr val="dk1"/>
    </cs:fontRef>
    <cs:spPr>
      <a:ln w="19050" cap="rnd">
        <a:solidFill>
          <a:schemeClr val="lt1"/>
        </a:solidFill>
        <a:prstDash val="sysDash"/>
      </a:ln>
    </cs:spPr>
  </cs:trendline>
  <cs:trendlineLabel>
    <cs:lnRef idx="0"/>
    <cs:fillRef idx="0"/>
    <cs:effectRef idx="0"/>
    <cs:fontRef idx="minor">
      <a:schemeClr val="lt1"/>
    </cs:fontRef>
    <cs:defRPr sz="1197"/>
  </cs:trendlineLabel>
  <cs:upBar>
    <cs:lnRef idx="0"/>
    <cs:fillRef idx="0"/>
    <cs:effectRef idx="0"/>
    <cs:fontRef idx="minor">
      <a:schemeClr val="dk1"/>
    </cs:fontRef>
    <cs:spPr>
      <a:solidFill>
        <a:schemeClr val="lt1"/>
      </a:solidFill>
    </cs:spPr>
  </cs:upBar>
  <cs:valueAxis>
    <cs:lnRef idx="0"/>
    <cs:fillRef idx="0"/>
    <cs:effectRef idx="0"/>
    <cs:fontRef idx="minor">
      <a:schemeClr val="lt1"/>
    </cs:fontRef>
    <cs:defRPr sz="1197"/>
    <cs:bodyPr/>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a:p>
            <a:pPr marL="0" marR="0" lvl="0" indent="0" algn="l" rtl="0">
              <a:lnSpc>
                <a:spcPct val="100000"/>
              </a:lnSpc>
              <a:spcBef>
                <a:spcPts val="0"/>
              </a:spcBef>
              <a:spcAft>
                <a:spcPts val="0"/>
              </a:spcAft>
              <a:buClr>
                <a:schemeClr val="dk1"/>
              </a:buClr>
              <a:buSzPts val="1100"/>
              <a:buFont typeface="Arial"/>
              <a:buNone/>
            </a:pPr>
            <a:r>
              <a:rPr lang="en-IN" sz="1100" b="0" i="0" u="none" strike="noStrike" cap="none" dirty="0">
                <a:solidFill>
                  <a:srgbClr val="000000"/>
                </a:solidFill>
                <a:latin typeface="Arial"/>
                <a:ea typeface="Arial"/>
                <a:cs typeface="Arial"/>
                <a:sym typeface="Arial"/>
              </a:rPr>
              <a:t>Underlying code to plot the visualisation-Set 1 Q1 in sql_codes.txt file</a:t>
            </a:r>
            <a:endParaRPr sz="1100" b="0"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a:p>
            <a:pPr marL="0" marR="0" lvl="0" indent="0" algn="l" rtl="0">
              <a:lnSpc>
                <a:spcPct val="100000"/>
              </a:lnSpc>
              <a:spcBef>
                <a:spcPts val="0"/>
              </a:spcBef>
              <a:spcAft>
                <a:spcPts val="0"/>
              </a:spcAft>
              <a:buClr>
                <a:schemeClr val="dk1"/>
              </a:buClr>
              <a:buSzPts val="1100"/>
              <a:buFont typeface="Arial"/>
              <a:buNone/>
            </a:pPr>
            <a:r>
              <a:rPr lang="en-IN" sz="1100" b="0" i="0" u="none" strike="noStrike" cap="none" dirty="0">
                <a:solidFill>
                  <a:srgbClr val="000000"/>
                </a:solidFill>
                <a:latin typeface="Arial"/>
                <a:ea typeface="Arial"/>
                <a:cs typeface="Arial"/>
                <a:sym typeface="Arial"/>
              </a:rPr>
              <a:t>Underlying code to plot the visualisation-Set 1 Q2 in sql_codes.txt file</a:t>
            </a:r>
            <a:endParaRP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45246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a:p>
            <a:pPr marL="0" marR="0" lvl="0" indent="0" algn="l" rtl="0">
              <a:lnSpc>
                <a:spcPct val="100000"/>
              </a:lnSpc>
              <a:spcBef>
                <a:spcPts val="0"/>
              </a:spcBef>
              <a:spcAft>
                <a:spcPts val="0"/>
              </a:spcAft>
              <a:buClr>
                <a:schemeClr val="dk1"/>
              </a:buClr>
              <a:buSzPts val="1100"/>
              <a:buFont typeface="Arial"/>
              <a:buNone/>
            </a:pPr>
            <a:r>
              <a:rPr lang="en-IN" sz="1100" b="0" i="0" u="none" strike="noStrike" cap="none" dirty="0">
                <a:solidFill>
                  <a:srgbClr val="000000"/>
                </a:solidFill>
                <a:latin typeface="Arial"/>
                <a:ea typeface="Arial"/>
                <a:cs typeface="Arial"/>
                <a:sym typeface="Arial"/>
              </a:rPr>
              <a:t>Underlying code to plot the visualisation-Set 1 Q3 in sql_codes.txt file</a:t>
            </a:r>
            <a:endParaRP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199881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a:p>
            <a:pPr marL="0" marR="0" lvl="0" indent="0" algn="l" rtl="0">
              <a:lnSpc>
                <a:spcPct val="100000"/>
              </a:lnSpc>
              <a:spcBef>
                <a:spcPts val="0"/>
              </a:spcBef>
              <a:spcAft>
                <a:spcPts val="0"/>
              </a:spcAft>
              <a:buClr>
                <a:schemeClr val="dk1"/>
              </a:buClr>
              <a:buSzPts val="1100"/>
              <a:buFont typeface="Arial"/>
              <a:buNone/>
            </a:pPr>
            <a:r>
              <a:rPr lang="en-IN" sz="1100" b="0" i="0" u="none" strike="noStrike" cap="none" dirty="0">
                <a:solidFill>
                  <a:srgbClr val="000000"/>
                </a:solidFill>
                <a:latin typeface="Arial"/>
                <a:ea typeface="Arial"/>
                <a:cs typeface="Arial"/>
                <a:sym typeface="Arial"/>
              </a:rPr>
              <a:t>Underlying code to plot the visualisation-Set 2 Q1 in sql_codes.txt file</a:t>
            </a:r>
            <a:endParaRP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91604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endParaRPr dirty="0"/>
          </a:p>
          <a:p>
            <a:pPr marL="0" marR="0" lvl="0" indent="0" algn="l" rtl="0">
              <a:lnSpc>
                <a:spcPct val="100000"/>
              </a:lnSpc>
              <a:spcBef>
                <a:spcPts val="0"/>
              </a:spcBef>
              <a:spcAft>
                <a:spcPts val="0"/>
              </a:spcAft>
              <a:buClr>
                <a:schemeClr val="dk1"/>
              </a:buClr>
              <a:buSzPts val="1100"/>
              <a:buFont typeface="Arial"/>
              <a:buNone/>
            </a:pPr>
            <a:r>
              <a:rPr lang="en-IN" sz="1100" b="0" i="0" u="none" strike="noStrike" cap="none" dirty="0">
                <a:solidFill>
                  <a:srgbClr val="000000"/>
                </a:solidFill>
                <a:latin typeface="Arial"/>
                <a:ea typeface="Arial"/>
                <a:cs typeface="Arial"/>
                <a:sym typeface="Arial"/>
              </a:rPr>
              <a:t>Underlying code to plot the visualisation-Set 2 Q2 in sql_codes.txt file</a:t>
            </a:r>
            <a:endParaRP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31283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12" name="Google Shape;12;p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endParaRPr/>
          </a:p>
        </p:txBody>
      </p:sp>
      <p:sp>
        <p:nvSpPr>
          <p:cNvPr id="16" name="Google Shape;16;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3" name="Google Shape;23;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15000"/>
              </a:lnSpc>
              <a:spcBef>
                <a:spcPts val="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marR="0" lvl="0" indent="-342900" algn="ctr"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ctr"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14/relationships/chartEx" Target="../charts/chartEx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6758609" y="795600"/>
            <a:ext cx="2377200" cy="4347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chemeClr val="dk2"/>
              </a:buClr>
              <a:buSzPts val="1400"/>
              <a:buFont typeface="Arial"/>
              <a:buNone/>
            </a:pPr>
            <a:r>
              <a:rPr lang="en-IN" dirty="0">
                <a:latin typeface="Open Sans"/>
                <a:ea typeface="Open Sans"/>
                <a:cs typeface="Open Sans"/>
              </a:rPr>
              <a:t>Scalawag Duck (Music category) is the maximum rented film whereas Conspiracy Spirit (Classics category) is the least rented. Every other movie rental count is shown in decreasing order in the plot.</a:t>
            </a:r>
            <a:endParaRPr sz="1400" b="0" i="0" u="none" strike="noStrike" cap="none" dirty="0">
              <a:solidFill>
                <a:schemeClr val="dk2"/>
              </a:solidFill>
              <a:latin typeface="Open Sans"/>
              <a:ea typeface="Open Sans"/>
              <a:cs typeface="Open Sans"/>
              <a:sym typeface="Open Sans"/>
            </a:endParaRPr>
          </a:p>
        </p:txBody>
      </p:sp>
      <p:sp>
        <p:nvSpPr>
          <p:cNvPr id="55" name="Google Shape;55;p13"/>
          <p:cNvSpPr txBox="1">
            <a:spLocks noGrp="1"/>
          </p:cNvSpPr>
          <p:nvPr>
            <p:ph type="title"/>
          </p:nvPr>
        </p:nvSpPr>
        <p:spPr>
          <a:xfrm>
            <a:off x="0" y="0"/>
            <a:ext cx="9144000" cy="7956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2800"/>
              <a:buFont typeface="Arial"/>
              <a:buNone/>
            </a:pPr>
            <a:r>
              <a:rPr lang="en" dirty="0">
                <a:solidFill>
                  <a:srgbClr val="FFFFFF"/>
                </a:solidFill>
                <a:latin typeface="Open Sans"/>
                <a:ea typeface="Open Sans"/>
                <a:cs typeface="Open Sans"/>
                <a:sym typeface="Open Sans"/>
              </a:rPr>
              <a:t>What was the </a:t>
            </a:r>
            <a:r>
              <a:rPr lang="en-IN" dirty="0">
                <a:solidFill>
                  <a:srgbClr val="FFFFFF"/>
                </a:solidFill>
                <a:latin typeface="Open Sans"/>
                <a:ea typeface="Open Sans"/>
                <a:cs typeface="Open Sans"/>
                <a:sym typeface="Open Sans"/>
              </a:rPr>
              <a:t>number of times a film has been rented out in family category </a:t>
            </a:r>
            <a:r>
              <a:rPr lang="en" sz="2800" b="0" i="0" u="none" strike="noStrike" cap="none" dirty="0">
                <a:solidFill>
                  <a:srgbClr val="FFFFFF"/>
                </a:solidFill>
                <a:latin typeface="Open Sans"/>
                <a:ea typeface="Open Sans"/>
                <a:cs typeface="Open Sans"/>
                <a:sym typeface="Open Sans"/>
              </a:rPr>
              <a:t>?</a:t>
            </a:r>
            <a:endParaRPr sz="2800" b="0" i="0" u="none" strike="noStrike" cap="none" dirty="0">
              <a:solidFill>
                <a:srgbClr val="FFFFFF"/>
              </a:solidFill>
              <a:latin typeface="Open Sans"/>
              <a:ea typeface="Open Sans"/>
              <a:cs typeface="Open Sans"/>
              <a:sym typeface="Open Sans"/>
            </a:endParaRPr>
          </a:p>
        </p:txBody>
      </p:sp>
      <p:pic>
        <p:nvPicPr>
          <p:cNvPr id="56" name="Google Shape;56;p13"/>
          <p:cNvPicPr preferRelativeResize="0"/>
          <p:nvPr/>
        </p:nvPicPr>
        <p:blipFill rotWithShape="1">
          <a:blip r:embed="rId3">
            <a:alphaModFix/>
          </a:blip>
          <a:srcRect/>
          <a:stretch/>
        </p:blipFill>
        <p:spPr>
          <a:xfrm>
            <a:off x="620643" y="1266410"/>
            <a:ext cx="5236818" cy="3464616"/>
          </a:xfrm>
          <a:prstGeom prst="rect">
            <a:avLst/>
          </a:prstGeom>
          <a:noFill/>
          <a:ln>
            <a:noFill/>
          </a:ln>
        </p:spPr>
      </p:pic>
      <p:sp>
        <p:nvSpPr>
          <p:cNvPr id="57" name="Google Shape;57;p13"/>
          <p:cNvSpPr txBox="1"/>
          <p:nvPr/>
        </p:nvSpPr>
        <p:spPr>
          <a:xfrm>
            <a:off x="5420139" y="2650432"/>
            <a:ext cx="1338470" cy="2616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100" b="0" i="0" u="none" strike="noStrike" cap="none">
                <a:solidFill>
                  <a:schemeClr val="dk2"/>
                </a:solidFill>
                <a:latin typeface="Arial"/>
                <a:ea typeface="Arial"/>
                <a:cs typeface="Arial"/>
                <a:sym typeface="Arial"/>
              </a:rPr>
              <a:t>Staff ID</a:t>
            </a:r>
            <a:endParaRPr sz="1100" b="0" i="0" u="none" strike="noStrike" cap="none">
              <a:solidFill>
                <a:schemeClr val="dk2"/>
              </a:solidFill>
              <a:latin typeface="Arial"/>
              <a:ea typeface="Arial"/>
              <a:cs typeface="Arial"/>
              <a:sym typeface="Arial"/>
            </a:endParaRPr>
          </a:p>
        </p:txBody>
      </p:sp>
      <mc:AlternateContent xmlns:mc="http://schemas.openxmlformats.org/markup-compatibility/2006">
        <mc:Choice xmlns:cx1="http://schemas.microsoft.com/office/drawing/2015/9/8/chartex" Requires="cx1">
          <p:graphicFrame>
            <p:nvGraphicFramePr>
              <p:cNvPr id="2" name="Chart 1">
                <a:extLst>
                  <a:ext uri="{FF2B5EF4-FFF2-40B4-BE49-F238E27FC236}">
                    <a16:creationId xmlns:a16="http://schemas.microsoft.com/office/drawing/2014/main" id="{FC9ACBD5-4390-CC3E-4C6E-96FB8CEEB9FD}"/>
                  </a:ext>
                </a:extLst>
              </p:cNvPr>
              <p:cNvGraphicFramePr/>
              <p:nvPr>
                <p:extLst>
                  <p:ext uri="{D42A27DB-BD31-4B8C-83A1-F6EECF244321}">
                    <p14:modId xmlns:p14="http://schemas.microsoft.com/office/powerpoint/2010/main" val="596540338"/>
                  </p:ext>
                </p:extLst>
              </p:nvPr>
            </p:nvGraphicFramePr>
            <p:xfrm>
              <a:off x="0" y="795600"/>
              <a:ext cx="6758609" cy="4347900"/>
            </p:xfrm>
            <a:graphic>
              <a:graphicData uri="http://schemas.microsoft.com/office/drawing/2014/chartex">
                <cx:chart xmlns:cx="http://schemas.microsoft.com/office/drawing/2014/chartex" xmlns:r="http://schemas.openxmlformats.org/officeDocument/2006/relationships" r:id="rId4"/>
              </a:graphicData>
            </a:graphic>
          </p:graphicFrame>
        </mc:Choice>
        <mc:Fallback>
          <p:pic>
            <p:nvPicPr>
              <p:cNvPr id="2" name="Chart 1">
                <a:extLst>
                  <a:ext uri="{FF2B5EF4-FFF2-40B4-BE49-F238E27FC236}">
                    <a16:creationId xmlns:a16="http://schemas.microsoft.com/office/drawing/2014/main" id="{FC9ACBD5-4390-CC3E-4C6E-96FB8CEEB9FD}"/>
                  </a:ext>
                </a:extLst>
              </p:cNvPr>
              <p:cNvPicPr>
                <a:picLocks noGrp="1" noRot="1" noChangeAspect="1" noMove="1" noResize="1" noEditPoints="1" noAdjustHandles="1" noChangeArrowheads="1" noChangeShapeType="1"/>
              </p:cNvPicPr>
              <p:nvPr/>
            </p:nvPicPr>
            <p:blipFill>
              <a:blip r:embed="rId5"/>
              <a:stretch>
                <a:fillRect/>
              </a:stretch>
            </p:blipFill>
            <p:spPr>
              <a:xfrm>
                <a:off x="0" y="795600"/>
                <a:ext cx="6758609" cy="43479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6758609" y="795600"/>
            <a:ext cx="2377200" cy="4347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chemeClr val="dk2"/>
              </a:buClr>
              <a:buSzPts val="1400"/>
              <a:buFont typeface="Arial"/>
              <a:buNone/>
            </a:pPr>
            <a:r>
              <a:rPr lang="en-IN" dirty="0">
                <a:latin typeface="Open Sans"/>
                <a:ea typeface="Open Sans"/>
                <a:cs typeface="Open Sans"/>
              </a:rPr>
              <a:t>Family (357) followed by Animation (323) is the most watched segment based on average rental duration. Quartile 4 has the highest no of movies, highest watched belonging to Family (116). Least watched movie is in Music category (45) falls under quartile 1.</a:t>
            </a:r>
            <a:endParaRPr sz="1400" b="0" i="0" u="none" strike="noStrike" cap="none" dirty="0">
              <a:solidFill>
                <a:schemeClr val="dk2"/>
              </a:solidFill>
              <a:latin typeface="Open Sans"/>
              <a:ea typeface="Open Sans"/>
              <a:cs typeface="Open Sans"/>
              <a:sym typeface="Open Sans"/>
            </a:endParaRPr>
          </a:p>
        </p:txBody>
      </p:sp>
      <p:sp>
        <p:nvSpPr>
          <p:cNvPr id="55" name="Google Shape;55;p13"/>
          <p:cNvSpPr txBox="1">
            <a:spLocks noGrp="1"/>
          </p:cNvSpPr>
          <p:nvPr>
            <p:ph type="title"/>
          </p:nvPr>
        </p:nvSpPr>
        <p:spPr>
          <a:xfrm>
            <a:off x="0" y="0"/>
            <a:ext cx="9144000" cy="7956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2800"/>
              <a:buFont typeface="Arial"/>
              <a:buNone/>
            </a:pPr>
            <a:r>
              <a:rPr lang="en" dirty="0">
                <a:solidFill>
                  <a:srgbClr val="FFFFFF"/>
                </a:solidFill>
                <a:latin typeface="Open Sans"/>
                <a:ea typeface="Open Sans"/>
                <a:cs typeface="Open Sans"/>
                <a:sym typeface="Open Sans"/>
              </a:rPr>
              <a:t>Which is the quartile a film falls into based on </a:t>
            </a:r>
            <a:r>
              <a:rPr lang="en-IN" dirty="0">
                <a:solidFill>
                  <a:srgbClr val="FFFFFF"/>
                </a:solidFill>
                <a:latin typeface="Open Sans"/>
                <a:ea typeface="Open Sans"/>
                <a:cs typeface="Open Sans"/>
                <a:sym typeface="Open Sans"/>
              </a:rPr>
              <a:t>average rental duration for movies across family categories ?</a:t>
            </a:r>
            <a:endParaRPr sz="2800" b="0" i="0" u="none" strike="noStrike" cap="none" dirty="0">
              <a:solidFill>
                <a:srgbClr val="FFFFFF"/>
              </a:solidFill>
              <a:latin typeface="Open Sans"/>
              <a:ea typeface="Open Sans"/>
              <a:cs typeface="Open Sans"/>
              <a:sym typeface="Open Sans"/>
            </a:endParaRPr>
          </a:p>
        </p:txBody>
      </p:sp>
      <p:graphicFrame>
        <p:nvGraphicFramePr>
          <p:cNvPr id="3" name="Chart 2">
            <a:extLst>
              <a:ext uri="{FF2B5EF4-FFF2-40B4-BE49-F238E27FC236}">
                <a16:creationId xmlns:a16="http://schemas.microsoft.com/office/drawing/2014/main" id="{25584DB8-44D1-F1CE-F40A-2C50745A6826}"/>
              </a:ext>
            </a:extLst>
          </p:cNvPr>
          <p:cNvGraphicFramePr>
            <a:graphicFrameLocks/>
          </p:cNvGraphicFramePr>
          <p:nvPr>
            <p:extLst>
              <p:ext uri="{D42A27DB-BD31-4B8C-83A1-F6EECF244321}">
                <p14:modId xmlns:p14="http://schemas.microsoft.com/office/powerpoint/2010/main" val="61305811"/>
              </p:ext>
            </p:extLst>
          </p:nvPr>
        </p:nvGraphicFramePr>
        <p:xfrm>
          <a:off x="-397565" y="908684"/>
          <a:ext cx="6893540" cy="42348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54840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6758609" y="795600"/>
            <a:ext cx="2377200" cy="4347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chemeClr val="dk2"/>
              </a:buClr>
              <a:buSzPts val="1400"/>
              <a:buFont typeface="Arial"/>
              <a:buNone/>
            </a:pPr>
            <a:r>
              <a:rPr lang="en-IN" dirty="0">
                <a:latin typeface="Open Sans"/>
                <a:ea typeface="Open Sans"/>
                <a:cs typeface="Open Sans"/>
              </a:rPr>
              <a:t>4</a:t>
            </a:r>
            <a:r>
              <a:rPr lang="en-IN" baseline="30000" dirty="0">
                <a:latin typeface="Open Sans"/>
                <a:ea typeface="Open Sans"/>
                <a:cs typeface="Open Sans"/>
              </a:rPr>
              <a:t>th</a:t>
            </a:r>
            <a:r>
              <a:rPr lang="en-IN" dirty="0">
                <a:latin typeface="Open Sans"/>
                <a:ea typeface="Open Sans"/>
                <a:cs typeface="Open Sans"/>
              </a:rPr>
              <a:t> quartile in Family &amp; 1</a:t>
            </a:r>
            <a:r>
              <a:rPr lang="en-IN" baseline="30000" dirty="0">
                <a:latin typeface="Open Sans"/>
                <a:ea typeface="Open Sans"/>
                <a:cs typeface="Open Sans"/>
              </a:rPr>
              <a:t>st</a:t>
            </a:r>
            <a:r>
              <a:rPr lang="en-IN" dirty="0">
                <a:latin typeface="Open Sans"/>
                <a:ea typeface="Open Sans"/>
                <a:cs typeface="Open Sans"/>
              </a:rPr>
              <a:t> quartile in Animation are highest. These 2 seem kind of outliers compared to rest of the plot across categories. Every other category has different count of movies in each quartile hence it cannot be said a particular quartile across the view is significant.</a:t>
            </a:r>
            <a:endParaRPr sz="1400" b="0" i="0" u="none" strike="noStrike" cap="none" dirty="0">
              <a:solidFill>
                <a:schemeClr val="dk2"/>
              </a:solidFill>
              <a:latin typeface="Open Sans"/>
              <a:ea typeface="Open Sans"/>
              <a:cs typeface="Open Sans"/>
              <a:sym typeface="Open Sans"/>
            </a:endParaRPr>
          </a:p>
        </p:txBody>
      </p:sp>
      <p:sp>
        <p:nvSpPr>
          <p:cNvPr id="55" name="Google Shape;55;p13"/>
          <p:cNvSpPr txBox="1">
            <a:spLocks noGrp="1"/>
          </p:cNvSpPr>
          <p:nvPr>
            <p:ph type="title"/>
          </p:nvPr>
        </p:nvSpPr>
        <p:spPr>
          <a:xfrm>
            <a:off x="0" y="0"/>
            <a:ext cx="9144000" cy="7956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2800"/>
              <a:buFont typeface="Arial"/>
              <a:buNone/>
            </a:pPr>
            <a:r>
              <a:rPr lang="en" dirty="0">
                <a:solidFill>
                  <a:srgbClr val="FFFFFF"/>
                </a:solidFill>
                <a:latin typeface="Open Sans"/>
                <a:ea typeface="Open Sans"/>
                <a:cs typeface="Open Sans"/>
                <a:sym typeface="Open Sans"/>
              </a:rPr>
              <a:t>How many movies within each </a:t>
            </a:r>
            <a:r>
              <a:rPr lang="en-IN" dirty="0">
                <a:solidFill>
                  <a:srgbClr val="FFFFFF"/>
                </a:solidFill>
                <a:latin typeface="Open Sans"/>
                <a:ea typeface="Open Sans"/>
                <a:cs typeface="Open Sans"/>
                <a:sym typeface="Open Sans"/>
              </a:rPr>
              <a:t>film category fall in each quartile?</a:t>
            </a:r>
            <a:endParaRPr sz="2800" b="0" i="0" u="none" strike="noStrike" cap="none" dirty="0">
              <a:solidFill>
                <a:srgbClr val="FFFFFF"/>
              </a:solidFill>
              <a:latin typeface="Open Sans"/>
              <a:ea typeface="Open Sans"/>
              <a:cs typeface="Open Sans"/>
              <a:sym typeface="Open Sans"/>
            </a:endParaRPr>
          </a:p>
        </p:txBody>
      </p:sp>
      <p:graphicFrame>
        <p:nvGraphicFramePr>
          <p:cNvPr id="4" name="Chart 3">
            <a:extLst>
              <a:ext uri="{FF2B5EF4-FFF2-40B4-BE49-F238E27FC236}">
                <a16:creationId xmlns:a16="http://schemas.microsoft.com/office/drawing/2014/main" id="{1FF51B12-AE66-A9E3-9614-AD21F93D3E03}"/>
              </a:ext>
            </a:extLst>
          </p:cNvPr>
          <p:cNvGraphicFramePr>
            <a:graphicFrameLocks/>
          </p:cNvGraphicFramePr>
          <p:nvPr>
            <p:extLst>
              <p:ext uri="{D42A27DB-BD31-4B8C-83A1-F6EECF244321}">
                <p14:modId xmlns:p14="http://schemas.microsoft.com/office/powerpoint/2010/main" val="1551781220"/>
              </p:ext>
            </p:extLst>
          </p:nvPr>
        </p:nvGraphicFramePr>
        <p:xfrm>
          <a:off x="8190" y="972129"/>
          <a:ext cx="6742227" cy="410080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52230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6758609" y="795600"/>
            <a:ext cx="2377200" cy="4347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chemeClr val="dk2"/>
              </a:buClr>
              <a:buSzPts val="1400"/>
              <a:buFont typeface="Arial"/>
              <a:buNone/>
            </a:pPr>
            <a:r>
              <a:rPr lang="en-IN" dirty="0">
                <a:latin typeface="Open Sans"/>
                <a:ea typeface="Open Sans"/>
                <a:cs typeface="Open Sans"/>
              </a:rPr>
              <a:t>The 2 stores perform in a similar fashion in all the months of available data. Maximum rented by both the stores was in 2005 July &amp; August, respectively.</a:t>
            </a:r>
            <a:endParaRPr sz="1400" b="0" i="0" u="none" strike="noStrike" cap="none" dirty="0">
              <a:solidFill>
                <a:schemeClr val="dk2"/>
              </a:solidFill>
              <a:latin typeface="Open Sans"/>
              <a:ea typeface="Open Sans"/>
              <a:cs typeface="Open Sans"/>
              <a:sym typeface="Open Sans"/>
            </a:endParaRPr>
          </a:p>
        </p:txBody>
      </p:sp>
      <p:sp>
        <p:nvSpPr>
          <p:cNvPr id="55" name="Google Shape;55;p13"/>
          <p:cNvSpPr txBox="1">
            <a:spLocks noGrp="1"/>
          </p:cNvSpPr>
          <p:nvPr>
            <p:ph type="title"/>
          </p:nvPr>
        </p:nvSpPr>
        <p:spPr>
          <a:xfrm>
            <a:off x="0" y="0"/>
            <a:ext cx="9144000" cy="7956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2800"/>
              <a:buFont typeface="Arial"/>
              <a:buNone/>
            </a:pPr>
            <a:r>
              <a:rPr lang="en" dirty="0">
                <a:solidFill>
                  <a:srgbClr val="FFFFFF"/>
                </a:solidFill>
                <a:latin typeface="Open Sans"/>
                <a:ea typeface="Open Sans"/>
                <a:cs typeface="Open Sans"/>
                <a:sym typeface="Open Sans"/>
              </a:rPr>
              <a:t>How the </a:t>
            </a:r>
            <a:r>
              <a:rPr lang="en-IN" dirty="0">
                <a:solidFill>
                  <a:srgbClr val="FFFFFF"/>
                </a:solidFill>
                <a:latin typeface="Open Sans"/>
                <a:ea typeface="Open Sans"/>
                <a:cs typeface="Open Sans"/>
                <a:sym typeface="Open Sans"/>
              </a:rPr>
              <a:t>two stores in their count of rental orders during every month for all the years compare?</a:t>
            </a:r>
            <a:endParaRPr sz="2800" b="0" i="0" u="none" strike="noStrike" cap="none" dirty="0">
              <a:solidFill>
                <a:srgbClr val="FFFFFF"/>
              </a:solidFill>
              <a:latin typeface="Open Sans"/>
              <a:ea typeface="Open Sans"/>
              <a:cs typeface="Open Sans"/>
              <a:sym typeface="Open Sans"/>
            </a:endParaRPr>
          </a:p>
        </p:txBody>
      </p:sp>
      <p:graphicFrame>
        <p:nvGraphicFramePr>
          <p:cNvPr id="2" name="Chart 1">
            <a:extLst>
              <a:ext uri="{FF2B5EF4-FFF2-40B4-BE49-F238E27FC236}">
                <a16:creationId xmlns:a16="http://schemas.microsoft.com/office/drawing/2014/main" id="{95216848-C35A-DAD1-9B38-25843FB49EB0}"/>
              </a:ext>
            </a:extLst>
          </p:cNvPr>
          <p:cNvGraphicFramePr>
            <a:graphicFrameLocks/>
          </p:cNvGraphicFramePr>
          <p:nvPr>
            <p:extLst>
              <p:ext uri="{D42A27DB-BD31-4B8C-83A1-F6EECF244321}">
                <p14:modId xmlns:p14="http://schemas.microsoft.com/office/powerpoint/2010/main" val="902312528"/>
              </p:ext>
            </p:extLst>
          </p:nvPr>
        </p:nvGraphicFramePr>
        <p:xfrm>
          <a:off x="210709" y="929805"/>
          <a:ext cx="6039016" cy="39920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29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6758609" y="795600"/>
            <a:ext cx="2377200" cy="4347900"/>
          </a:xfrm>
          <a:prstGeom prst="rect">
            <a:avLst/>
          </a:prstGeom>
          <a:solidFill>
            <a:srgbClr val="EFEFEF"/>
          </a:solidFill>
          <a:ln w="9525" cap="flat" cmpd="sng">
            <a:solidFill>
              <a:srgbClr val="999999"/>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chemeClr val="dk2"/>
              </a:buClr>
              <a:buSzPts val="1400"/>
              <a:buFont typeface="Arial"/>
              <a:buNone/>
            </a:pPr>
            <a:r>
              <a:rPr lang="en-IN" dirty="0">
                <a:latin typeface="Open Sans"/>
                <a:ea typeface="Open Sans"/>
                <a:cs typeface="Open Sans"/>
              </a:rPr>
              <a:t>The plot is based on sum of amount paid. Eleanor hunt in April has paid the most. Marcia Dean in February paid the least. Almost all of them did highest payments in April followed by March.</a:t>
            </a:r>
            <a:endParaRPr sz="1400" b="0" i="0" u="none" strike="noStrike" cap="none" dirty="0">
              <a:solidFill>
                <a:schemeClr val="dk2"/>
              </a:solidFill>
              <a:latin typeface="Open Sans"/>
              <a:ea typeface="Open Sans"/>
              <a:cs typeface="Open Sans"/>
              <a:sym typeface="Open Sans"/>
            </a:endParaRPr>
          </a:p>
        </p:txBody>
      </p:sp>
      <p:sp>
        <p:nvSpPr>
          <p:cNvPr id="55" name="Google Shape;55;p13"/>
          <p:cNvSpPr txBox="1">
            <a:spLocks noGrp="1"/>
          </p:cNvSpPr>
          <p:nvPr>
            <p:ph type="title"/>
          </p:nvPr>
        </p:nvSpPr>
        <p:spPr>
          <a:xfrm>
            <a:off x="0" y="0"/>
            <a:ext cx="9144000" cy="7956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2800"/>
              <a:buFont typeface="Arial"/>
              <a:buNone/>
            </a:pPr>
            <a:r>
              <a:rPr lang="en-IN" dirty="0">
                <a:solidFill>
                  <a:srgbClr val="FFFFFF"/>
                </a:solidFill>
                <a:latin typeface="Open Sans"/>
                <a:ea typeface="Open Sans"/>
                <a:cs typeface="Open Sans"/>
                <a:sym typeface="Open Sans"/>
              </a:rPr>
              <a:t>Who are top 10 paying customers, no of payments &amp; amount they paid on a monthly basis during 2007 ?</a:t>
            </a:r>
            <a:endParaRPr sz="2800" b="0" i="0" u="none" strike="noStrike" cap="none" dirty="0">
              <a:solidFill>
                <a:srgbClr val="FFFFFF"/>
              </a:solidFill>
              <a:latin typeface="Open Sans"/>
              <a:ea typeface="Open Sans"/>
              <a:cs typeface="Open Sans"/>
              <a:sym typeface="Open Sans"/>
            </a:endParaRPr>
          </a:p>
        </p:txBody>
      </p:sp>
      <p:graphicFrame>
        <p:nvGraphicFramePr>
          <p:cNvPr id="2" name="Chart 1">
            <a:extLst>
              <a:ext uri="{FF2B5EF4-FFF2-40B4-BE49-F238E27FC236}">
                <a16:creationId xmlns:a16="http://schemas.microsoft.com/office/drawing/2014/main" id="{A80594EC-F460-6A7D-444A-03458FA983D3}"/>
              </a:ext>
            </a:extLst>
          </p:cNvPr>
          <p:cNvGraphicFramePr>
            <a:graphicFrameLocks/>
          </p:cNvGraphicFramePr>
          <p:nvPr>
            <p:extLst>
              <p:ext uri="{D42A27DB-BD31-4B8C-83A1-F6EECF244321}">
                <p14:modId xmlns:p14="http://schemas.microsoft.com/office/powerpoint/2010/main" val="2756936503"/>
              </p:ext>
            </p:extLst>
          </p:nvPr>
        </p:nvGraphicFramePr>
        <p:xfrm>
          <a:off x="0" y="795600"/>
          <a:ext cx="6750418" cy="43479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3562310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421</Words>
  <Application>Microsoft Office PowerPoint</Application>
  <PresentationFormat>On-screen Show (16:9)</PresentationFormat>
  <Paragraphs>35</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Calibri</vt:lpstr>
      <vt:lpstr>Open Sans</vt:lpstr>
      <vt:lpstr>Arial</vt:lpstr>
      <vt:lpstr>Simple Light</vt:lpstr>
      <vt:lpstr>What was the number of times a film has been rented out in family category ?</vt:lpstr>
      <vt:lpstr>Which is the quartile a film falls into based on average rental duration for movies across family categories ?</vt:lpstr>
      <vt:lpstr>How many movies within each film category fall in each quartile?</vt:lpstr>
      <vt:lpstr>How the two stores in their count of rental orders during every month for all the years compare?</vt:lpstr>
      <vt:lpstr>Who are top 10 paying customers, no of payments &amp; amount they paid on a monthly basis during 2007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was the  number of times a film has been rented out in family category?</dc:title>
  <dc:creator>Manas Dash</dc:creator>
  <cp:lastModifiedBy>Manas Dash</cp:lastModifiedBy>
  <cp:revision>3</cp:revision>
  <dcterms:modified xsi:type="dcterms:W3CDTF">2023-04-09T13:58:14Z</dcterms:modified>
</cp:coreProperties>
</file>